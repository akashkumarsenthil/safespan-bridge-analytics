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50292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SafeSpan Bridge Analytics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274320" y="1481328"/>
            <a:ext cx="8595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4A3B8"/>
                </a:solidFill>
              </a:rPr>
              <a:t>Predictive Maintenance for U.S. Bridge Infrastructure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274320" y="1965960"/>
            <a:ext cx="347472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2148840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8BDF8"/>
                </a:solidFill>
              </a:rPr>
              <a:t>4.8M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74320" y="256032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Bridge-year rows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423160" y="2148840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8BDF8"/>
                </a:solidFill>
              </a:rPr>
              <a:t>8 Years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423160" y="256032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2018-2024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0" y="2148840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8BDF8"/>
                </a:solidFill>
              </a:rPr>
              <a:t>600K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572000" y="256032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Unique bridges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720840" y="2148840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8BDF8"/>
                </a:solidFill>
              </a:rPr>
              <a:t>0.874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720840" y="256032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Champion Macro F1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74320" y="4681728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DATA 245 — Machine Learning Technologies  |  SJSU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766560" y="468172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Akash Kumar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94944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94944"/>
            <a:ext cx="91440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256032" y="73152"/>
            <a:ext cx="8631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Motivation — Why Bridge Condition Prediction?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201168" y="749808"/>
            <a:ext cx="4059936" cy="3154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01168" y="749808"/>
            <a:ext cx="4059936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310896" y="84124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The Problem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10896" y="1143000"/>
            <a:ext cx="384048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5000"/>
              </a:lnSpc>
              <a:buNone/>
            </a:pPr>
            <a:r>
              <a:rPr lang="en-US" sz="1100" b="1" dirty="0">
                <a:solidFill>
                  <a:srgbClr val="DC2626"/>
                </a:solidFill>
              </a:rPr>
              <a:t>~617,000</a:t>
            </a:r>
            <a:pPr indent="0" marL="0">
              <a:lnSpc>
                <a:spcPct val="165000"/>
              </a:lnSpc>
              <a:buNone/>
            </a:pPr>
            <a:r>
              <a:rPr lang="en-US" sz="1100" dirty="0">
                <a:solidFill>
                  <a:srgbClr val="475569"/>
                </a:solidFill>
              </a:rPr>
              <a:t> U.S. bridges inspected every 2 years
</a:t>
            </a:r>
            <a:pPr indent="0" marL="0">
              <a:lnSpc>
                <a:spcPct val="165000"/>
              </a:lnSpc>
              <a:buNone/>
            </a:pPr>
            <a:r>
              <a:rPr lang="en-US" sz="1100" b="1" dirty="0">
                <a:solidFill>
                  <a:srgbClr val="DC2626"/>
                </a:solidFill>
              </a:rPr>
              <a:t>7.6%</a:t>
            </a:r>
            <a:pPr indent="0" marL="0">
              <a:lnSpc>
                <a:spcPct val="165000"/>
              </a:lnSpc>
              <a:buNone/>
            </a:pPr>
            <a:r>
              <a:rPr lang="en-US" sz="1100" dirty="0">
                <a:solidFill>
                  <a:srgbClr val="475569"/>
                </a:solidFill>
              </a:rPr>
              <a:t> were structurally deficient in 2018
</a:t>
            </a:r>
            <a:pPr indent="0" marL="0">
              <a:lnSpc>
                <a:spcPct val="165000"/>
              </a:lnSpc>
              <a:buNone/>
            </a:pPr>
            <a:r>
              <a:rPr lang="en-US" sz="1100" b="1" dirty="0">
                <a:solidFill>
                  <a:srgbClr val="475569"/>
                </a:solidFill>
              </a:rPr>
              <a:t>Reactive maintenance</a:t>
            </a:r>
            <a:pPr indent="0" marL="0">
              <a:lnSpc>
                <a:spcPct val="165000"/>
              </a:lnSpc>
              <a:buNone/>
            </a:pPr>
            <a:r>
              <a:rPr lang="en-US" sz="1100" dirty="0">
                <a:solidFill>
                  <a:srgbClr val="475569"/>
                </a:solidFill>
              </a:rPr>
              <a:t> costs 3-4x more than preventive
</a:t>
            </a:r>
            <a:pPr indent="0" marL="0">
              <a:lnSpc>
                <a:spcPct val="165000"/>
              </a:lnSpc>
              <a:buNone/>
            </a:pPr>
            <a:r>
              <a:rPr lang="en-US" sz="1100" b="1" dirty="0">
                <a:solidFill>
                  <a:srgbClr val="475569"/>
                </a:solidFill>
              </a:rPr>
              <a:t>Manual inspection</a:t>
            </a:r>
            <a:pPr indent="0" marL="0">
              <a:lnSpc>
                <a:spcPct val="165000"/>
              </a:lnSpc>
              <a:buNone/>
            </a:pPr>
            <a:r>
              <a:rPr lang="en-US" sz="1100" dirty="0">
                <a:solidFill>
                  <a:srgbClr val="475569"/>
                </a:solidFill>
              </a:rPr>
              <a:t> is expensive and inconsistent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0896" y="2706624"/>
            <a:ext cx="3840480" cy="274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" name="Text 8"/>
          <p:cNvSpPr/>
          <p:nvPr/>
        </p:nvSpPr>
        <p:spPr>
          <a:xfrm>
            <a:off x="310896" y="277977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Real-World Impact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10896" y="3035808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I-35W Minneapolis collapse (2007) — 13 lives lost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ASCE: $786B bridge investment needed over 10 years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462272" y="749808"/>
            <a:ext cx="4480560" cy="3154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462272" y="749808"/>
            <a:ext cx="4480560" cy="4572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0" y="841248"/>
            <a:ext cx="4251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Top States by Critical Bridge Rate</a:t>
            </a:r>
            <a:endParaRPr lang="en-US" sz="11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498848" y="1115568"/>
            <a:ext cx="4407408" cy="2670048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201168" y="4005072"/>
            <a:ext cx="8741664" cy="658368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7" name="Text 14"/>
          <p:cNvSpPr/>
          <p:nvPr/>
        </p:nvSpPr>
        <p:spPr>
          <a:xfrm>
            <a:off x="347472" y="4059936"/>
            <a:ext cx="84307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Problem Statement: Given current-year NBI inspection data (2018-2023), predict each bridge's condition in the NEXT inspection cycle — enabling proactive maintenance triage.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94944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94944"/>
            <a:ext cx="91440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256032" y="73152"/>
            <a:ext cx="8631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Dataset — National Bridge Inventory (FHWA)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201168" y="749808"/>
            <a:ext cx="2084832" cy="8778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01168" y="749808"/>
            <a:ext cx="2084832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201168" y="822960"/>
            <a:ext cx="2084832" cy="4564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91B2"/>
                </a:solidFill>
              </a:rPr>
              <a:t>4.8M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56032" y="1276502"/>
            <a:ext cx="1975104" cy="31601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Panel rows (7 yrs)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395728" y="749808"/>
            <a:ext cx="2084832" cy="8778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395728" y="749808"/>
            <a:ext cx="2084832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1" name="Text 9"/>
          <p:cNvSpPr/>
          <p:nvPr/>
        </p:nvSpPr>
        <p:spPr>
          <a:xfrm>
            <a:off x="2395728" y="822960"/>
            <a:ext cx="2084832" cy="4564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91B2"/>
                </a:solidFill>
              </a:rPr>
              <a:t>3.6M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450592" y="1276502"/>
            <a:ext cx="1975104" cy="31601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Transition pairs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590288" y="749808"/>
            <a:ext cx="2084832" cy="8778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90288" y="749808"/>
            <a:ext cx="2084832" cy="4572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5" name="Text 13"/>
          <p:cNvSpPr/>
          <p:nvPr/>
        </p:nvSpPr>
        <p:spPr>
          <a:xfrm>
            <a:off x="4590288" y="822960"/>
            <a:ext cx="2084832" cy="4564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F3A"/>
                </a:solidFill>
              </a:rPr>
              <a:t>600K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645152" y="1276502"/>
            <a:ext cx="1975104" cy="31601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Unique bridges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784848" y="749808"/>
            <a:ext cx="2084832" cy="8778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784848" y="749808"/>
            <a:ext cx="2084832" cy="4572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9" name="Text 17"/>
          <p:cNvSpPr/>
          <p:nvPr/>
        </p:nvSpPr>
        <p:spPr>
          <a:xfrm>
            <a:off x="6784848" y="822960"/>
            <a:ext cx="2084832" cy="4564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F3A"/>
                </a:solidFill>
              </a:rPr>
              <a:t>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839712" y="1276502"/>
            <a:ext cx="1975104" cy="31601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Condition classes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01168" y="1737360"/>
            <a:ext cx="4160520" cy="2852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01168" y="1737360"/>
            <a:ext cx="4160520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3" name="Text 21"/>
          <p:cNvSpPr/>
          <p:nvPr/>
        </p:nvSpPr>
        <p:spPr>
          <a:xfrm>
            <a:off x="310896" y="1810512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Class Distribution — 4.8M observations</a:t>
            </a:r>
            <a:endParaRPr lang="en-US" sz="1100" dirty="0"/>
          </a:p>
        </p:txBody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19456" y="2029968"/>
            <a:ext cx="4206240" cy="2487168"/>
          </a:xfrm>
          <a:prstGeom prst="rect">
            <a:avLst/>
          </a:prstGeom>
        </p:spPr>
      </p:pic>
      <p:sp>
        <p:nvSpPr>
          <p:cNvPr id="25" name="Shape 22"/>
          <p:cNvSpPr/>
          <p:nvPr/>
        </p:nvSpPr>
        <p:spPr>
          <a:xfrm>
            <a:off x="4562856" y="1737360"/>
            <a:ext cx="4379976" cy="2852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562856" y="1737360"/>
            <a:ext cx="4379976" cy="4572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27" name="Text 24"/>
          <p:cNvSpPr/>
          <p:nvPr/>
        </p:nvSpPr>
        <p:spPr>
          <a:xfrm>
            <a:off x="4681728" y="1810512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Target Variable — Next-Year BRIDGE_CONDITION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4645152" y="2139696"/>
            <a:ext cx="164592" cy="43891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9" name="Text 26"/>
          <p:cNvSpPr/>
          <p:nvPr/>
        </p:nvSpPr>
        <p:spPr>
          <a:xfrm>
            <a:off x="4882896" y="214884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</a:rPr>
              <a:t>Good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4882896" y="237744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Min rating &gt;= 7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7223760" y="221284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6A34A"/>
                </a:solidFill>
              </a:rPr>
              <a:t>25.8%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4645152" y="2734056"/>
            <a:ext cx="164592" cy="438912"/>
          </a:xfrm>
          <a:prstGeom prst="rect">
            <a:avLst/>
          </a:prstGeom>
          <a:solidFill>
            <a:srgbClr val="CA8A04"/>
          </a:solidFill>
          <a:ln/>
        </p:spPr>
      </p:sp>
      <p:sp>
        <p:nvSpPr>
          <p:cNvPr id="33" name="Text 30"/>
          <p:cNvSpPr/>
          <p:nvPr/>
        </p:nvSpPr>
        <p:spPr>
          <a:xfrm>
            <a:off x="4882896" y="274320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8A04"/>
                </a:solidFill>
              </a:rPr>
              <a:t>Fair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4882896" y="297180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Min rating 5-6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7223760" y="280720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A8A04"/>
                </a:solidFill>
              </a:rPr>
              <a:t>48.9%</a:t>
            </a:r>
            <a:endParaRPr lang="en-US" sz="1300" dirty="0"/>
          </a:p>
        </p:txBody>
      </p:sp>
      <p:sp>
        <p:nvSpPr>
          <p:cNvPr id="36" name="Shape 33"/>
          <p:cNvSpPr/>
          <p:nvPr/>
        </p:nvSpPr>
        <p:spPr>
          <a:xfrm>
            <a:off x="4645152" y="3328416"/>
            <a:ext cx="164592" cy="438912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7" name="Text 34"/>
          <p:cNvSpPr/>
          <p:nvPr/>
        </p:nvSpPr>
        <p:spPr>
          <a:xfrm>
            <a:off x="4882896" y="333756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580C"/>
                </a:solidFill>
              </a:rPr>
              <a:t>Poor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4882896" y="356616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Min rating 3-4</a:t>
            </a:r>
            <a:endParaRPr lang="en-US" sz="950" dirty="0"/>
          </a:p>
        </p:txBody>
      </p:sp>
      <p:sp>
        <p:nvSpPr>
          <p:cNvPr id="39" name="Text 36"/>
          <p:cNvSpPr/>
          <p:nvPr/>
        </p:nvSpPr>
        <p:spPr>
          <a:xfrm>
            <a:off x="7223760" y="340156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A580C"/>
                </a:solidFill>
              </a:rPr>
              <a:t>19.1%</a:t>
            </a:r>
            <a:endParaRPr lang="en-US" sz="1300" dirty="0"/>
          </a:p>
        </p:txBody>
      </p:sp>
      <p:sp>
        <p:nvSpPr>
          <p:cNvPr id="40" name="Shape 37"/>
          <p:cNvSpPr/>
          <p:nvPr/>
        </p:nvSpPr>
        <p:spPr>
          <a:xfrm>
            <a:off x="4645152" y="3922776"/>
            <a:ext cx="164592" cy="43891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1" name="Text 38"/>
          <p:cNvSpPr/>
          <p:nvPr/>
        </p:nvSpPr>
        <p:spPr>
          <a:xfrm>
            <a:off x="4882896" y="393192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</a:rPr>
              <a:t>Critical</a:t>
            </a:r>
            <a:endParaRPr lang="en-US" sz="1300" dirty="0"/>
          </a:p>
        </p:txBody>
      </p:sp>
      <p:sp>
        <p:nvSpPr>
          <p:cNvPr id="42" name="Text 39"/>
          <p:cNvSpPr/>
          <p:nvPr/>
        </p:nvSpPr>
        <p:spPr>
          <a:xfrm>
            <a:off x="4882896" y="416052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Min rating &lt; 3</a:t>
            </a:r>
            <a:endParaRPr lang="en-US" sz="950" dirty="0"/>
          </a:p>
        </p:txBody>
      </p:sp>
      <p:sp>
        <p:nvSpPr>
          <p:cNvPr id="43" name="Text 40"/>
          <p:cNvSpPr/>
          <p:nvPr/>
        </p:nvSpPr>
        <p:spPr>
          <a:xfrm>
            <a:off x="7223760" y="399592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C2626"/>
                </a:solidFill>
              </a:rPr>
              <a:t>6.1%</a:t>
            </a:r>
            <a:endParaRPr lang="en-US" sz="1300" dirty="0"/>
          </a:p>
        </p:txBody>
      </p:sp>
      <p:sp>
        <p:nvSpPr>
          <p:cNvPr id="44" name="Shape 41"/>
          <p:cNvSpPr/>
          <p:nvPr/>
        </p:nvSpPr>
        <p:spPr>
          <a:xfrm>
            <a:off x="201168" y="4645152"/>
            <a:ext cx="8741664" cy="274320"/>
          </a:xfrm>
          <a:prstGeom prst="rect">
            <a:avLst/>
          </a:prstGeom>
          <a:solidFill>
            <a:srgbClr val="FFF7ED"/>
          </a:solidFill>
          <a:ln w="6350">
            <a:solidFill>
              <a:srgbClr val="FED7AA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274320" y="4663440"/>
            <a:ext cx="85770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2400E"/>
                </a:solidFill>
              </a:rPr>
              <a:t>Key change v5: Next-year prediction formulation — current condition ratings become valid lagged features, not leakage. Correlation filter removed 10 redundant columns.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94944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94944"/>
            <a:ext cx="91440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256032" y="73152"/>
            <a:ext cx="8631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Input to Model to Output — Next-Year Prediction Pipeline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201168" y="768096"/>
            <a:ext cx="2816352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01168" y="768096"/>
            <a:ext cx="2816352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310896" y="877824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</a:rPr>
              <a:t>INPUT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10896" y="1188720"/>
            <a:ext cx="259689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Tabular · Current-year NBI inspection record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27 features after correlation filter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Includes current condition as lagged predictor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Age, span, traffic, ratings, material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127248" y="768096"/>
            <a:ext cx="2816352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27248" y="768096"/>
            <a:ext cx="2816352" cy="4572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1" name="Text 9"/>
          <p:cNvSpPr/>
          <p:nvPr/>
        </p:nvSpPr>
        <p:spPr>
          <a:xfrm>
            <a:off x="3236976" y="877824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MODEL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36976" y="1188720"/>
            <a:ext cx="259689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Soft-Voting Ensemble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Random Forest (55%) + Logistic Reg (20%)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+ Linear SVM (25%)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3M training rows (2018-2022 transitions)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053328" y="768096"/>
            <a:ext cx="2816352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53328" y="768096"/>
            <a:ext cx="2816352" cy="457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5" name="Text 13"/>
          <p:cNvSpPr/>
          <p:nvPr/>
        </p:nvSpPr>
        <p:spPr>
          <a:xfrm>
            <a:off x="6163056" y="877824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</a:rPr>
              <a:t>OUTPUT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63056" y="1188720"/>
            <a:ext cx="259689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Predicted NEXT-YEAR class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Critical / Poor / Fair / Good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+ probability per class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+ Risk score x ADT priority rank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090672" y="1673352"/>
            <a:ext cx="73152" cy="20116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8" name="Text 16"/>
          <p:cNvSpPr/>
          <p:nvPr/>
        </p:nvSpPr>
        <p:spPr>
          <a:xfrm>
            <a:off x="3081528" y="1837944"/>
            <a:ext cx="1097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91B2"/>
                </a:solidFill>
              </a:rPr>
              <a:t>-&gt;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16752" y="1673352"/>
            <a:ext cx="73152" cy="20116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0" name="Text 18"/>
          <p:cNvSpPr/>
          <p:nvPr/>
        </p:nvSpPr>
        <p:spPr>
          <a:xfrm>
            <a:off x="6007608" y="1837944"/>
            <a:ext cx="1097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91B2"/>
                </a:solidFill>
              </a:rPr>
              <a:t>-&gt;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01168" y="2907792"/>
            <a:ext cx="8741664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01168" y="2907792"/>
            <a:ext cx="8741664" cy="4572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23" name="Text 21"/>
          <p:cNvSpPr/>
          <p:nvPr/>
        </p:nvSpPr>
        <p:spPr>
          <a:xfrm>
            <a:off x="310896" y="2980944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A580C"/>
                </a:solidFill>
              </a:rPr>
              <a:t>Why current condition ratings are NOT leakage in this formulation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10896" y="3255264"/>
            <a:ext cx="84307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0B1F3A"/>
                </a:solidFill>
              </a:rPr>
              <a:t>Old approach (same-year): </a:t>
            </a:r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75569"/>
                </a:solidFill>
              </a:rPr>
              <a:t>Predict 2023 condition using 2023 data — using deck_cond=3 to predict condition=Poor is cheating (same measurement).
</a:t>
            </a:r>
            <a:pPr indent="0" marL="0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16A34A"/>
                </a:solidFill>
              </a:rPr>
              <a:t>New approach (next-year): </a:t>
            </a:r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75569"/>
                </a:solidFill>
              </a:rPr>
              <a:t>Predict 2024 condition using 2023 data — knowing a bridge was rated Poor in 2023 genuinely helps predict 2024. These are different inspection cycles.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01168" y="3950208"/>
            <a:ext cx="8741664" cy="749808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26" name="Text 24"/>
          <p:cNvSpPr/>
          <p:nvPr/>
        </p:nvSpPr>
        <p:spPr>
          <a:xfrm>
            <a:off x="310896" y="4005072"/>
            <a:ext cx="843076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Test set: 2023 inspection data → predict 2024 condition (600,000 bridges)  |  Downstream: RISK_SCORE x log(1+ADT) = ranked priority list for DOT inspection scheduling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94944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94944"/>
            <a:ext cx="91440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256032" y="73152"/>
            <a:ext cx="8631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Exploratory Data Analysis — Key Findings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201168" y="749808"/>
            <a:ext cx="5120640" cy="20299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01168" y="749808"/>
            <a:ext cx="5120640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310896" y="822960"/>
            <a:ext cx="4956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3A"/>
                </a:solidFill>
              </a:rPr>
              <a:t>Bridge Age by Condition</a:t>
            </a:r>
            <a:endParaRPr lang="en-US" sz="10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19456" y="1024128"/>
            <a:ext cx="5212080" cy="168249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68112" y="749808"/>
            <a:ext cx="3474720" cy="20299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468112" y="749808"/>
            <a:ext cx="3474720" cy="4572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1" name="Text 8"/>
          <p:cNvSpPr/>
          <p:nvPr/>
        </p:nvSpPr>
        <p:spPr>
          <a:xfrm>
            <a:off x="5559552" y="82296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3A"/>
                </a:solidFill>
              </a:rPr>
              <a:t>Condition Trend 2018-2024</a:t>
            </a:r>
            <a:endParaRPr lang="en-US" sz="105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504688" y="1024128"/>
            <a:ext cx="3410712" cy="1682496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201168" y="2871216"/>
            <a:ext cx="5120640" cy="20299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201168" y="2871216"/>
            <a:ext cx="5120640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5" name="Text 11"/>
          <p:cNvSpPr/>
          <p:nvPr/>
        </p:nvSpPr>
        <p:spPr>
          <a:xfrm>
            <a:off x="310896" y="2944368"/>
            <a:ext cx="4956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3A"/>
                </a:solidFill>
              </a:rPr>
              <a:t>Condition by Bridge Material</a:t>
            </a:r>
            <a:endParaRPr lang="en-US" sz="105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219456" y="3145536"/>
            <a:ext cx="5212080" cy="1682496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5468112" y="2871216"/>
            <a:ext cx="347472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5468112" y="2871216"/>
            <a:ext cx="3474720" cy="457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9" name="Text 14"/>
          <p:cNvSpPr/>
          <p:nvPr/>
        </p:nvSpPr>
        <p:spPr>
          <a:xfrm>
            <a:off x="5559552" y="296265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</a:rPr>
              <a:t>Age Gap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5559552" y="31729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Critical avg 71yr vs Good 52yr — 19-year difference. Age is the top predictor.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5468112" y="3538728"/>
            <a:ext cx="347472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5468112" y="3538728"/>
            <a:ext cx="3474720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3" name="Text 18"/>
          <p:cNvSpPr/>
          <p:nvPr/>
        </p:nvSpPr>
        <p:spPr>
          <a:xfrm>
            <a:off x="5559552" y="363016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</a:rPr>
              <a:t>2022 Shift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5559552" y="38404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Critical% rises after 2022 as IIJA-era rehabbed bridges re-enter inspection cycle.</a:t>
            </a:r>
            <a:endParaRPr lang="en-US" sz="950" dirty="0"/>
          </a:p>
        </p:txBody>
      </p:sp>
      <p:sp>
        <p:nvSpPr>
          <p:cNvPr id="25" name="Shape 20"/>
          <p:cNvSpPr/>
          <p:nvPr/>
        </p:nvSpPr>
        <p:spPr>
          <a:xfrm>
            <a:off x="5468112" y="4206240"/>
            <a:ext cx="347472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5468112" y="4206240"/>
            <a:ext cx="3474720" cy="4572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27" name="Text 22"/>
          <p:cNvSpPr/>
          <p:nvPr/>
        </p:nvSpPr>
        <p:spPr>
          <a:xfrm>
            <a:off x="5559552" y="429768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Material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5559552" y="450799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Wood and masonry show highest Critical rates. Prestressed concrete most resilient.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94944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94944"/>
            <a:ext cx="91440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256032" y="73152"/>
            <a:ext cx="8631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Data Drift Analysis — Population Stability Index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201168" y="749808"/>
            <a:ext cx="8741664" cy="2852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01168" y="749808"/>
            <a:ext cx="8741664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310896" y="822960"/>
            <a:ext cx="8430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PSI vs 2018 Baseline — all features well below 0.10 threshold (even lower than previous run)</a:t>
            </a:r>
            <a:endParaRPr lang="en-US" sz="11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19456" y="1042416"/>
            <a:ext cx="8686800" cy="239572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201168" y="3694176"/>
            <a:ext cx="283464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01168" y="3694176"/>
            <a:ext cx="2834640" cy="4572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1" name="Text 8"/>
          <p:cNvSpPr/>
          <p:nvPr/>
        </p:nvSpPr>
        <p:spPr>
          <a:xfrm>
            <a:off x="292608" y="3785616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580C"/>
                </a:solidFill>
              </a:rPr>
              <a:t>Event-Driven (2020)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292608" y="4041648"/>
            <a:ext cx="2651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COVID traffic collapse: ADT drops temporarily. PSI spike then full recovery by 2022. All PSI values remain below 0.10.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090672" y="3694176"/>
            <a:ext cx="283464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090672" y="3694176"/>
            <a:ext cx="2834640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5" name="Text 12"/>
          <p:cNvSpPr/>
          <p:nvPr/>
        </p:nvSpPr>
        <p:spPr>
          <a:xfrm>
            <a:off x="3182112" y="3785616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</a:rPr>
              <a:t>Policy Shift (2021)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3182112" y="4041648"/>
            <a:ext cx="2651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AASHTO LRFR recalibrated load ratings. One-time step change. In next-year model, operating rating PSI = 0.0 — fully absorbed.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980176" y="3694176"/>
            <a:ext cx="283464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980176" y="3694176"/>
            <a:ext cx="2834640" cy="4572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19" name="Text 16"/>
          <p:cNvSpPr/>
          <p:nvPr/>
        </p:nvSpPr>
        <p:spPr>
          <a:xfrm>
            <a:off x="6071616" y="3785616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</a:rPr>
              <a:t>Mechanical Aging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071616" y="4041648"/>
            <a:ext cx="2651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BRIDGE_AGE increases 1yr per cycle. Slow linear climb. Highest PSI = 0.0105. Fully expected and non-random.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201168" y="4663440"/>
            <a:ext cx="8741664" cy="256032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22" name="Text 19"/>
          <p:cNvSpPr/>
          <p:nvPr/>
        </p:nvSpPr>
        <p:spPr>
          <a:xfrm>
            <a:off x="274320" y="4681728"/>
            <a:ext cx="85770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All PSI below 0.10. Drift is even lower than previous run because next-year transitions are naturally more stable — adjacent years are more similar than a 7-year span.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94944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94944"/>
            <a:ext cx="91440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256032" y="73152"/>
            <a:ext cx="8631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Experimental Design — Next-Year Transition Framework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201168" y="749808"/>
            <a:ext cx="4059936" cy="19933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01168" y="749808"/>
            <a:ext cx="4059936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822960"/>
            <a:ext cx="3895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Train / Test Split — Temporal Transitions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6032" y="1115568"/>
            <a:ext cx="621792" cy="475488"/>
          </a:xfrm>
          <a:prstGeom prst="rect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1115568"/>
            <a:ext cx="6217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18-19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256032" y="1371600"/>
            <a:ext cx="6217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</a:rPr>
              <a:t>train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914400" y="1115568"/>
            <a:ext cx="621792" cy="475488"/>
          </a:xfrm>
          <a:prstGeom prst="rect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1115568"/>
            <a:ext cx="6217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19-20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914400" y="1371600"/>
            <a:ext cx="6217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</a:rPr>
              <a:t>train</a:t>
            </a:r>
            <a:endParaRPr lang="en-US" sz="650" dirty="0"/>
          </a:p>
        </p:txBody>
      </p:sp>
      <p:sp>
        <p:nvSpPr>
          <p:cNvPr id="14" name="Shape 12"/>
          <p:cNvSpPr/>
          <p:nvPr/>
        </p:nvSpPr>
        <p:spPr>
          <a:xfrm>
            <a:off x="1572768" y="1115568"/>
            <a:ext cx="621792" cy="475488"/>
          </a:xfrm>
          <a:prstGeom prst="rect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572768" y="1115568"/>
            <a:ext cx="6217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20-21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1572768" y="1371600"/>
            <a:ext cx="6217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</a:rPr>
              <a:t>train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2231136" y="1115568"/>
            <a:ext cx="621792" cy="475488"/>
          </a:xfrm>
          <a:prstGeom prst="rect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31136" y="1115568"/>
            <a:ext cx="6217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21-22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2231136" y="1371600"/>
            <a:ext cx="6217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</a:rPr>
              <a:t>train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889504" y="1115568"/>
            <a:ext cx="621792" cy="475488"/>
          </a:xfrm>
          <a:prstGeom prst="rect">
            <a:avLst/>
          </a:prstGeom>
          <a:solidFill>
            <a:srgbClr val="EA580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889504" y="1115568"/>
            <a:ext cx="6217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22-23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2889504" y="1371600"/>
            <a:ext cx="6217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</a:rPr>
              <a:t>val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3547872" y="1115568"/>
            <a:ext cx="621792" cy="475488"/>
          </a:xfrm>
          <a:prstGeom prst="rect">
            <a:avLst/>
          </a:prstGeom>
          <a:solidFill>
            <a:srgbClr val="DC262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47872" y="1115568"/>
            <a:ext cx="6217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23-24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3547872" y="1371600"/>
            <a:ext cx="6217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</a:rPr>
              <a:t>TEST</a:t>
            </a:r>
            <a:endParaRPr lang="en-US" sz="650" dirty="0"/>
          </a:p>
        </p:txBody>
      </p:sp>
      <p:sp>
        <p:nvSpPr>
          <p:cNvPr id="26" name="Text 24"/>
          <p:cNvSpPr/>
          <p:nvPr/>
        </p:nvSpPr>
        <p:spPr>
          <a:xfrm>
            <a:off x="256032" y="164592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75569"/>
                </a:solidFill>
              </a:rPr>
              <a:t>Each arrow = one transition pair (year N features → year N+1 label)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56032" y="1865376"/>
            <a:ext cx="3895344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</a:rPr>
              <a:t>Train: 2.4M rows (2018-2021 transitions)  |  Val: 600K (2022 transitions)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</a:rPr>
              <a:t>Test: 600K (2023 features -&gt; 2024 labels) — strict temporal holdout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</a:rPr>
              <a:t>5-fold CV on 150K subset:  Macro F1 = 0.934 +/- 0.003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462272" y="749808"/>
            <a:ext cx="4480560" cy="19933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462272" y="749808"/>
            <a:ext cx="4480560" cy="4572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0" y="822960"/>
            <a:ext cx="4279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Champion: Soft-Voting Ensemble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35424" y="1161288"/>
            <a:ext cx="54864" cy="20116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2" name="Text 30"/>
          <p:cNvSpPr/>
          <p:nvPr/>
        </p:nvSpPr>
        <p:spPr>
          <a:xfrm>
            <a:off x="4663440" y="1161288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F3A"/>
                </a:solidFill>
              </a:rPr>
              <a:t>Random Forest (55%)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663440" y="1335024"/>
            <a:ext cx="4206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300 trees, balanced weights — anchor model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535424" y="1490472"/>
            <a:ext cx="54864" cy="20116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5" name="Text 33"/>
          <p:cNvSpPr/>
          <p:nvPr/>
        </p:nvSpPr>
        <p:spPr>
          <a:xfrm>
            <a:off x="4663440" y="1490472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F3A"/>
                </a:solidFill>
              </a:rPr>
              <a:t>Logistic Regression (20%)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663440" y="1664208"/>
            <a:ext cx="4206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Calibrated linear component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535424" y="1819656"/>
            <a:ext cx="54864" cy="20116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8" name="Text 36"/>
          <p:cNvSpPr/>
          <p:nvPr/>
        </p:nvSpPr>
        <p:spPr>
          <a:xfrm>
            <a:off x="4663440" y="1819656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F3A"/>
                </a:solidFill>
              </a:rPr>
              <a:t>Linear SVM (25%)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663440" y="1993392"/>
            <a:ext cx="4206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Maximum-margin boundary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535424" y="2148840"/>
            <a:ext cx="54864" cy="20116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1" name="Text 39"/>
          <p:cNvSpPr/>
          <p:nvPr/>
        </p:nvSpPr>
        <p:spPr>
          <a:xfrm>
            <a:off x="4663440" y="2148840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</a:rPr>
              <a:t>Blend weights tuned on val set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663440" y="2322576"/>
            <a:ext cx="4206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Optimized for macro F1 + safety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201168" y="2834640"/>
            <a:ext cx="8741664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201168" y="2834640"/>
            <a:ext cx="8741664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5" name="Text 43"/>
          <p:cNvSpPr/>
          <p:nvPr/>
        </p:nvSpPr>
        <p:spPr>
          <a:xfrm>
            <a:off x="274320" y="290779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Evaluation Metrics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846320" y="2907792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Champion Hyperparameters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274320" y="3163824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891B2"/>
                </a:solidFill>
              </a:rPr>
              <a:t>Macro F1: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1719072" y="3163824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Primary — equal weight across all 4 classes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274320" y="338328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891B2"/>
                </a:solidFill>
              </a:rPr>
              <a:t>ROC-AUC: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1719072" y="338328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Imbalance-robust ranking metric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274320" y="3602736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891B2"/>
                </a:solidFill>
              </a:rPr>
              <a:t>Crit to Good %: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1719072" y="3602736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Safety KPI — must-never-miss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274320" y="382219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891B2"/>
                </a:solidFill>
              </a:rPr>
              <a:t>Brier Score: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1719072" y="3822192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Probability calibration quality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4846320" y="3127248"/>
            <a:ext cx="1298448" cy="329184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846320" y="3127248"/>
            <a:ext cx="12984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B1F3A"/>
                </a:solidFill>
              </a:rPr>
              <a:t>RF: n_est=300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6217920" y="3127248"/>
            <a:ext cx="1298448" cy="329184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217920" y="3127248"/>
            <a:ext cx="12984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B1F3A"/>
                </a:solidFill>
              </a:rPr>
              <a:t>depth=25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7589520" y="3127248"/>
            <a:ext cx="1298448" cy="329184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589520" y="3127248"/>
            <a:ext cx="12984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B1F3A"/>
                </a:solidFill>
              </a:rPr>
              <a:t>leaf=10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4846320" y="3547872"/>
            <a:ext cx="1298448" cy="329184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846320" y="3547872"/>
            <a:ext cx="12984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B1F3A"/>
                </a:solidFill>
              </a:rPr>
              <a:t>blend=[0.55,0.20,0.25]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6217920" y="3547872"/>
            <a:ext cx="1298448" cy="329184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217920" y="3547872"/>
            <a:ext cx="12984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B1F3A"/>
                </a:solidFill>
              </a:rPr>
              <a:t>threshold tuned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7589520" y="3547872"/>
            <a:ext cx="1298448" cy="329184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589520" y="3547872"/>
            <a:ext cx="12984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B1F3A"/>
                </a:solidFill>
              </a:rPr>
              <a:t>val macro F1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201168" y="4315968"/>
            <a:ext cx="8741664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74320" y="4370832"/>
            <a:ext cx="857707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Target drift: Critical% rises 6.2% to 7.8% (2021-2024) — bridges aging into Critical faster than they are rehabbed in later years. 2024 test has 46,794 Critical transitions to predict.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94944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94944"/>
            <a:ext cx="91440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256032" y="73152"/>
            <a:ext cx="8631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Results — Multi-Model Benchmark (Next-Year Prediction)</a:t>
            </a:r>
            <a:endParaRPr lang="en-US" sz="1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" y="749808"/>
          <a:ext cx="8741664" cy="2395728"/>
        </p:xfrm>
        <a:graphic>
          <a:graphicData uri="http://schemas.openxmlformats.org/drawingml/2006/table">
            <a:tbl>
              <a:tblPr/>
              <a:tblGrid>
                <a:gridCol w="2468880"/>
                <a:gridCol w="1234440"/>
                <a:gridCol w="1234440"/>
                <a:gridCol w="1005840"/>
                <a:gridCol w="1417320"/>
                <a:gridCol w="1380744"/>
              </a:tblGrid>
              <a:tr h="34224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Macro F1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ROC-AUC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Brier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Crit-Good 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Accuracy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34224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Logistic Regression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0.214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0.537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0.188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</a:rPr>
                        <a:t>34.3%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~28%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24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Gaussian Naive Bayes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0.170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0.539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0.174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</a:rPr>
                        <a:t>0.7%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~17%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24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Random Forest (standalone)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0.548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0.801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0.135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A34A"/>
                          </a:solidFill>
                        </a:rPr>
                        <a:t>0.1%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~55%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24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Ensemble RF+LR+SVM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891B2"/>
                          </a:solidFill>
                        </a:rPr>
                        <a:t>0.874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891B2"/>
                          </a:solidFill>
                        </a:rPr>
                        <a:t>0.961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891B2"/>
                          </a:solidFill>
                        </a:rPr>
                        <a:t>0.055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</a:rPr>
                        <a:t>0.000%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891B2"/>
                          </a:solidFill>
                        </a:rPr>
                        <a:t>87.1%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34224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LightGBM (prev. run)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0.358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0.662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0.175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A580C"/>
                          </a:solidFill>
                        </a:rPr>
                        <a:t>22.7%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~36%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24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SVM RBF (prev. run)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0.192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0.528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0.264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</a:rPr>
                        <a:t>31.9%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~19%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201168" y="3200400"/>
            <a:ext cx="87416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</a:rPr>
              <a:t>Ensemble and standalone RF trained on next-year transitions (2018-2022). LR/NB/LightGBM/SVM shown from previous same-year benchmark for comparison.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201168" y="3456432"/>
            <a:ext cx="512064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201168" y="3456432"/>
            <a:ext cx="5120640" cy="4572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9" name="Text 6"/>
          <p:cNvSpPr/>
          <p:nvPr/>
        </p:nvSpPr>
        <p:spPr>
          <a:xfrm>
            <a:off x="310896" y="3529584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3A"/>
                </a:solidFill>
              </a:rPr>
              <a:t>Model Performance Drift (2022-23 vs 2023-24 transitions)</a:t>
            </a:r>
            <a:endParaRPr lang="en-US" sz="105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19456" y="3749040"/>
            <a:ext cx="5212080" cy="1243584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5468112" y="3456432"/>
            <a:ext cx="34747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5468112" y="3456432"/>
            <a:ext cx="3474720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3" name="Text 9"/>
          <p:cNvSpPr/>
          <p:nvPr/>
        </p:nvSpPr>
        <p:spPr>
          <a:xfrm>
            <a:off x="5559552" y="353872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891B2"/>
                </a:solidFill>
              </a:rPr>
              <a:t>Ensemble Champion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5559552" y="3712464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F1=0.874, AUC=0.961, Crit-Good=0%. Best on every metric.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5468112" y="3977640"/>
            <a:ext cx="34747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468112" y="3977640"/>
            <a:ext cx="3474720" cy="457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7" name="Text 13"/>
          <p:cNvSpPr/>
          <p:nvPr/>
        </p:nvSpPr>
        <p:spPr>
          <a:xfrm>
            <a:off x="5559552" y="4059936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A34A"/>
                </a:solidFill>
              </a:rPr>
              <a:t>Zero Dangerous Errors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5559552" y="4233672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No Critical bridge predicted Good. Perfect safety metric.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5468112" y="4498848"/>
            <a:ext cx="34747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5468112" y="4498848"/>
            <a:ext cx="3474720" cy="4572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21" name="Text 17"/>
          <p:cNvSpPr/>
          <p:nvPr/>
        </p:nvSpPr>
        <p:spPr>
          <a:xfrm>
            <a:off x="5559552" y="4581144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3A"/>
                </a:solidFill>
              </a:rPr>
              <a:t>Stable over time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5559552" y="475488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F1=0.8714 (2022-23) and F1=0.8743 (2023-24). No degradation.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94944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94944"/>
            <a:ext cx="91440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256032" y="73152"/>
            <a:ext cx="8631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Champion Model — Ensemble RF+LR+SVM — Test: 2023 to 2024 (600K bridges)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201168" y="749808"/>
            <a:ext cx="1682496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01168" y="749808"/>
            <a:ext cx="1682496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201168" y="822960"/>
            <a:ext cx="168249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91B2"/>
                </a:solidFill>
              </a:rPr>
              <a:t>0.874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56032" y="1298448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Macro F1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956816" y="749808"/>
            <a:ext cx="1682496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956816" y="749808"/>
            <a:ext cx="1682496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1" name="Text 9"/>
          <p:cNvSpPr/>
          <p:nvPr/>
        </p:nvSpPr>
        <p:spPr>
          <a:xfrm>
            <a:off x="1956816" y="822960"/>
            <a:ext cx="168249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91B2"/>
                </a:solidFill>
              </a:rPr>
              <a:t>0.961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011680" y="1298448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ROC-AUC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712464" y="749808"/>
            <a:ext cx="1682496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712464" y="749808"/>
            <a:ext cx="1682496" cy="4572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5" name="Text 13"/>
          <p:cNvSpPr/>
          <p:nvPr/>
        </p:nvSpPr>
        <p:spPr>
          <a:xfrm>
            <a:off x="3712464" y="822960"/>
            <a:ext cx="168249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F3A"/>
                </a:solidFill>
              </a:rPr>
              <a:t>84.9%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767328" y="1298448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Critical Recall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468112" y="749808"/>
            <a:ext cx="1682496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68112" y="749808"/>
            <a:ext cx="1682496" cy="457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9" name="Text 17"/>
          <p:cNvSpPr/>
          <p:nvPr/>
        </p:nvSpPr>
        <p:spPr>
          <a:xfrm>
            <a:off x="5468112" y="822960"/>
            <a:ext cx="168249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6A34A"/>
                </a:solidFill>
              </a:rPr>
              <a:t>0.000%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522976" y="1298448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Crit-Good Error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7223760" y="749808"/>
            <a:ext cx="1682496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223760" y="749808"/>
            <a:ext cx="1682496" cy="4572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23" name="Text 21"/>
          <p:cNvSpPr/>
          <p:nvPr/>
        </p:nvSpPr>
        <p:spPr>
          <a:xfrm>
            <a:off x="7223760" y="822960"/>
            <a:ext cx="168249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75569"/>
                </a:solidFill>
              </a:rPr>
              <a:t>0.934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278624" y="1298448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5-fold CV F1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01168" y="1773936"/>
            <a:ext cx="4663440" cy="2944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01168" y="1773936"/>
            <a:ext cx="4663440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7" name="Text 25"/>
          <p:cNvSpPr/>
          <p:nvPr/>
        </p:nvSpPr>
        <p:spPr>
          <a:xfrm>
            <a:off x="310896" y="1847088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Confusion Matrix — 2023 to 2024 Test Set</a:t>
            </a:r>
            <a:endParaRPr lang="en-US" sz="1100" dirty="0"/>
          </a:p>
        </p:txBody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19456" y="2084832"/>
            <a:ext cx="4681728" cy="2542032"/>
          </a:xfrm>
          <a:prstGeom prst="rect">
            <a:avLst/>
          </a:prstGeom>
        </p:spPr>
      </p:pic>
      <p:sp>
        <p:nvSpPr>
          <p:cNvPr id="29" name="Shape 26"/>
          <p:cNvSpPr/>
          <p:nvPr/>
        </p:nvSpPr>
        <p:spPr>
          <a:xfrm>
            <a:off x="5029200" y="1773936"/>
            <a:ext cx="3913632" cy="1444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5029200" y="1773936"/>
            <a:ext cx="3913632" cy="457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1" name="Text 28"/>
          <p:cNvSpPr/>
          <p:nvPr/>
        </p:nvSpPr>
        <p:spPr>
          <a:xfrm>
            <a:off x="5138928" y="1865376"/>
            <a:ext cx="3694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</a:rPr>
              <a:t>Safety Metric — PERFECT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5138928" y="2157984"/>
            <a:ext cx="3694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Critical to Good Error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5138928" y="2377440"/>
            <a:ext cx="36941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6A34A"/>
                </a:solidFill>
              </a:rPr>
              <a:t>0.000%</a:t>
            </a:r>
            <a:endParaRPr lang="en-US" sz="4000" dirty="0"/>
          </a:p>
        </p:txBody>
      </p:sp>
      <p:sp>
        <p:nvSpPr>
          <p:cNvPr id="34" name="Text 31"/>
          <p:cNvSpPr/>
          <p:nvPr/>
        </p:nvSpPr>
        <p:spPr>
          <a:xfrm>
            <a:off x="5138928" y="2980944"/>
            <a:ext cx="36941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ZERO Critical bridges predicted Good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out of 46,794 Critical test bridges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5029200" y="3291840"/>
            <a:ext cx="3913632" cy="1426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5029200" y="3291840"/>
            <a:ext cx="3913632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7" name="Text 34"/>
          <p:cNvSpPr/>
          <p:nvPr/>
        </p:nvSpPr>
        <p:spPr>
          <a:xfrm>
            <a:off x="5138928" y="3364992"/>
            <a:ext cx="3712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3A"/>
                </a:solidFill>
              </a:rPr>
              <a:t>Probability Calibration</a:t>
            </a:r>
            <a:endParaRPr lang="en-US" sz="1050" dirty="0"/>
          </a:p>
        </p:txBody>
      </p:sp>
      <p:pic>
        <p:nvPicPr>
          <p:cNvPr id="3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065776" y="3584448"/>
            <a:ext cx="3840480" cy="1078992"/>
          </a:xfrm>
          <a:prstGeom prst="rect">
            <a:avLst/>
          </a:prstGeom>
        </p:spPr>
      </p:pic>
      <p:sp>
        <p:nvSpPr>
          <p:cNvPr id="39" name="Shape 35"/>
          <p:cNvSpPr/>
          <p:nvPr/>
        </p:nvSpPr>
        <p:spPr>
          <a:xfrm>
            <a:off x="201168" y="4773168"/>
            <a:ext cx="8741664" cy="25603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274320" y="4791456"/>
            <a:ext cx="85770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1F3A"/>
                </a:solidFill>
              </a:rPr>
              <a:t>Macro F1 = 0.874 vs random baseline of ~0.12 — model is 7.3x better than random. Misclassification rate = 12.86% (vs 71% in same-year formulation). All errors are adjacent-class confusions (Poor-Fair, Good-Fair).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94944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94944"/>
            <a:ext cx="91440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256032" y="73152"/>
            <a:ext cx="8631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Interpretability — Feature Importance, LIME, PDP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201168" y="749808"/>
            <a:ext cx="4297680" cy="39136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01168" y="749808"/>
            <a:ext cx="4297680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310896" y="82296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Native Feature Importance — Top Predictors</a:t>
            </a:r>
            <a:endParaRPr lang="en-US" sz="11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19456" y="1042416"/>
            <a:ext cx="4370832" cy="340156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663440" y="749808"/>
            <a:ext cx="4279392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63440" y="749808"/>
            <a:ext cx="4279392" cy="4572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1" name="Text 8"/>
          <p:cNvSpPr/>
          <p:nvPr/>
        </p:nvSpPr>
        <p:spPr>
          <a:xfrm>
            <a:off x="4773168" y="822960"/>
            <a:ext cx="4078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Key Insight: Current Condition Dominates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736592" y="1152144"/>
            <a:ext cx="54864" cy="31089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3" name="Text 10"/>
          <p:cNvSpPr/>
          <p:nvPr/>
        </p:nvSpPr>
        <p:spPr>
          <a:xfrm>
            <a:off x="4864608" y="1152144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F3A"/>
                </a:solidFill>
              </a:rPr>
              <a:t>CURRENT_CONDITION_NUM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7443216" y="1152144"/>
            <a:ext cx="1335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891B2"/>
                </a:solidFill>
              </a:rPr>
              <a:t>0.301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864608" y="1335024"/>
            <a:ext cx="3913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The single strongest signal — what state is the bridge in NOW?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736592" y="1627632"/>
            <a:ext cx="54864" cy="31089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7" name="Text 14"/>
          <p:cNvSpPr/>
          <p:nvPr/>
        </p:nvSpPr>
        <p:spPr>
          <a:xfrm>
            <a:off x="4864608" y="162763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F3A"/>
                </a:solidFill>
              </a:rPr>
              <a:t>MIN_COMPONENT_COND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7443216" y="1627632"/>
            <a:ext cx="1335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891B2"/>
                </a:solidFill>
              </a:rPr>
              <a:t>0.188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864608" y="1810512"/>
            <a:ext cx="3913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Weakest individual component (deck/super/sub) — the bottleneck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4736592" y="2103120"/>
            <a:ext cx="54864" cy="310896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1" name="Text 18"/>
          <p:cNvSpPr/>
          <p:nvPr/>
        </p:nvSpPr>
        <p:spPr>
          <a:xfrm>
            <a:off x="4864608" y="210312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F3A"/>
                </a:solidFill>
              </a:rPr>
              <a:t>N_LOW_COMPONENTS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7443216" y="2103120"/>
            <a:ext cx="1335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891B2"/>
                </a:solidFill>
              </a:rPr>
              <a:t>0.061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4864608" y="2286000"/>
            <a:ext cx="3913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How many components are below threshold — deterioration breadth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4736592" y="2578608"/>
            <a:ext cx="54864" cy="310896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5" name="Text 22"/>
          <p:cNvSpPr/>
          <p:nvPr/>
        </p:nvSpPr>
        <p:spPr>
          <a:xfrm>
            <a:off x="4864608" y="2578608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F3A"/>
                </a:solidFill>
              </a:rPr>
              <a:t>MEAN_COMPONENT_COND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7443216" y="2578608"/>
            <a:ext cx="1335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891B2"/>
                </a:solidFill>
              </a:rPr>
              <a:t>0.051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864608" y="2761488"/>
            <a:ext cx="3913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Average across all components — overall structural health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4736592" y="3054096"/>
            <a:ext cx="54864" cy="310896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9" name="Text 26"/>
          <p:cNvSpPr/>
          <p:nvPr/>
        </p:nvSpPr>
        <p:spPr>
          <a:xfrm>
            <a:off x="4864608" y="305409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F3A"/>
                </a:solidFill>
              </a:rPr>
              <a:t>BRIDGE_AGE (via ratios)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7443216" y="3054096"/>
            <a:ext cx="1335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891B2"/>
                </a:solidFill>
              </a:rPr>
              <a:t>0.031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4864608" y="3236976"/>
            <a:ext cx="3913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Age drives long-term trajectory — consistent with SHAP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4663440" y="2743200"/>
            <a:ext cx="4279392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4663440" y="2743200"/>
            <a:ext cx="4279392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4" name="Text 31"/>
          <p:cNvSpPr/>
          <p:nvPr/>
        </p:nvSpPr>
        <p:spPr>
          <a:xfrm>
            <a:off x="4773168" y="2816352"/>
            <a:ext cx="4078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Partial Dependence — Top 3 Features vs P(Critical)</a:t>
            </a:r>
            <a:endParaRPr lang="en-US" sz="1100" dirty="0"/>
          </a:p>
        </p:txBody>
      </p:sp>
      <p:pic>
        <p:nvPicPr>
          <p:cNvPr id="3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81728" y="3035808"/>
            <a:ext cx="4206240" cy="1536192"/>
          </a:xfrm>
          <a:prstGeom prst="rect">
            <a:avLst/>
          </a:prstGeom>
        </p:spPr>
      </p:pic>
      <p:sp>
        <p:nvSpPr>
          <p:cNvPr id="36" name="Shape 32"/>
          <p:cNvSpPr/>
          <p:nvPr/>
        </p:nvSpPr>
        <p:spPr>
          <a:xfrm>
            <a:off x="201168" y="4736592"/>
            <a:ext cx="8741664" cy="237744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7" name="Text 33"/>
          <p:cNvSpPr/>
          <p:nvPr/>
        </p:nvSpPr>
        <p:spPr>
          <a:xfrm>
            <a:off x="274320" y="4754880"/>
            <a:ext cx="8577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LIME confirms: lower current condition score and more low-rated components = strongest push toward Critical prediction. All signals are structurally grounded.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94944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94944"/>
            <a:ext cx="91440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256032" y="73152"/>
            <a:ext cx="8631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Survival Analysis — Kaplan-Meier and Cox Proportional Hazards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201168" y="749808"/>
            <a:ext cx="2084832" cy="8778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01168" y="749808"/>
            <a:ext cx="2084832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201168" y="822960"/>
            <a:ext cx="2084832" cy="4564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91B2"/>
                </a:solidFill>
              </a:rPr>
              <a:t>464,822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56032" y="1276502"/>
            <a:ext cx="1975104" cy="31601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Bridges analyzed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395728" y="749808"/>
            <a:ext cx="2084832" cy="8778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395728" y="749808"/>
            <a:ext cx="2084832" cy="457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1" name="Text 9"/>
          <p:cNvSpPr/>
          <p:nvPr/>
        </p:nvSpPr>
        <p:spPr>
          <a:xfrm>
            <a:off x="2395728" y="822960"/>
            <a:ext cx="2084832" cy="4564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C2626"/>
                </a:solidFill>
              </a:rPr>
              <a:t>71,446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450592" y="1276502"/>
            <a:ext cx="1975104" cy="31601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Events (15.4%)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590288" y="749808"/>
            <a:ext cx="2084832" cy="8778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90288" y="749808"/>
            <a:ext cx="2084832" cy="457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5" name="Text 13"/>
          <p:cNvSpPr/>
          <p:nvPr/>
        </p:nvSpPr>
        <p:spPr>
          <a:xfrm>
            <a:off x="4590288" y="822960"/>
            <a:ext cx="2084832" cy="4564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6A34A"/>
                </a:solidFill>
              </a:rPr>
              <a:t>84.6%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645152" y="1276502"/>
            <a:ext cx="1975104" cy="31601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Censored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784848" y="749808"/>
            <a:ext cx="2084832" cy="8778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784848" y="749808"/>
            <a:ext cx="2084832" cy="4572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9" name="Text 17"/>
          <p:cNvSpPr/>
          <p:nvPr/>
        </p:nvSpPr>
        <p:spPr>
          <a:xfrm>
            <a:off x="6784848" y="822960"/>
            <a:ext cx="2084832" cy="4564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F3A"/>
                </a:solidFill>
              </a:rPr>
              <a:t>p = 0.000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839712" y="1276502"/>
            <a:ext cx="1975104" cy="31601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Log-rank age groups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01168" y="1737360"/>
            <a:ext cx="4279392" cy="29809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01168" y="1737360"/>
            <a:ext cx="4279392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3" name="Text 21"/>
          <p:cNvSpPr/>
          <p:nvPr/>
        </p:nvSpPr>
        <p:spPr>
          <a:xfrm>
            <a:off x="310896" y="18105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3A"/>
                </a:solidFill>
              </a:rPr>
              <a:t>Kaplan-Meier by Bridge Age Group</a:t>
            </a:r>
            <a:endParaRPr lang="en-US" sz="1050" dirty="0"/>
          </a:p>
        </p:txBody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19456" y="2011680"/>
            <a:ext cx="4352544" cy="2596896"/>
          </a:xfrm>
          <a:prstGeom prst="rect">
            <a:avLst/>
          </a:prstGeom>
        </p:spPr>
      </p:pic>
      <p:sp>
        <p:nvSpPr>
          <p:cNvPr id="25" name="Shape 22"/>
          <p:cNvSpPr/>
          <p:nvPr/>
        </p:nvSpPr>
        <p:spPr>
          <a:xfrm>
            <a:off x="4663440" y="1737360"/>
            <a:ext cx="4279392" cy="29809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663440" y="1737360"/>
            <a:ext cx="4279392" cy="4572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27" name="Text 24"/>
          <p:cNvSpPr/>
          <p:nvPr/>
        </p:nvSpPr>
        <p:spPr>
          <a:xfrm>
            <a:off x="4773168" y="1810512"/>
            <a:ext cx="4078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3A"/>
                </a:solidFill>
              </a:rPr>
              <a:t>Cox PH Hazard Ratios  (PH assumption passed)</a:t>
            </a:r>
            <a:endParaRPr lang="en-US" sz="1050" dirty="0"/>
          </a:p>
        </p:txBody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00016" y="2011680"/>
            <a:ext cx="4206240" cy="2596896"/>
          </a:xfrm>
          <a:prstGeom prst="rect">
            <a:avLst/>
          </a:prstGeom>
        </p:spPr>
      </p:pic>
      <p:sp>
        <p:nvSpPr>
          <p:cNvPr id="29" name="Shape 25"/>
          <p:cNvSpPr/>
          <p:nvPr/>
        </p:nvSpPr>
        <p:spPr>
          <a:xfrm>
            <a:off x="201168" y="4828032"/>
            <a:ext cx="8741664" cy="18288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0" name="Text 26"/>
          <p:cNvSpPr/>
          <p:nvPr/>
        </p:nvSpPr>
        <p:spPr>
          <a:xfrm>
            <a:off x="274320" y="4837176"/>
            <a:ext cx="857707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Event rate 15.4% (vs 1.5% in previous run) — next-year transitions capture genuine deterioration events far more effectively. Cox PH confirms: age, traffic, and scour increase hazard; higher ratings and inspection frequency are protective.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64592"/>
            <a:ext cx="8595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Conclusion and Impact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749808"/>
            <a:ext cx="32004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Shape 4"/>
          <p:cNvSpPr/>
          <p:nvPr/>
        </p:nvSpPr>
        <p:spPr>
          <a:xfrm>
            <a:off x="256032" y="914400"/>
            <a:ext cx="4315968" cy="1115568"/>
          </a:xfrm>
          <a:prstGeom prst="rect">
            <a:avLst/>
          </a:prstGeom>
          <a:solidFill>
            <a:srgbClr val="FFFFFF">
              <a:alpha val="7000"/>
            </a:srgbClr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914400"/>
            <a:ext cx="475488" cy="111556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256032" y="1261872"/>
            <a:ext cx="4754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1005840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</a:rPr>
              <a:t>Next-Year Formulation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1298448"/>
            <a:ext cx="36393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Predicting 2024 condition from 2023 data is more realistic and removes the leakage problem. F1 jumps from 0.306 to 0.874.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56032" y="2157984"/>
            <a:ext cx="4315968" cy="1115568"/>
          </a:xfrm>
          <a:prstGeom prst="rect">
            <a:avLst/>
          </a:prstGeom>
          <a:solidFill>
            <a:srgbClr val="FFFFFF">
              <a:alpha val="7000"/>
            </a:srgbClr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6032" y="2157984"/>
            <a:ext cx="475488" cy="111556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3" name="Text 11"/>
          <p:cNvSpPr/>
          <p:nvPr/>
        </p:nvSpPr>
        <p:spPr>
          <a:xfrm>
            <a:off x="256032" y="2505456"/>
            <a:ext cx="4754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" y="2249424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</a:rPr>
              <a:t>Perfect Safety Metric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2542032"/>
            <a:ext cx="36393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Zero Critical bridges predicted Good out of 46,794. The most important result in the entire project — no dangerous misses.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56032" y="3401568"/>
            <a:ext cx="4315968" cy="1115568"/>
          </a:xfrm>
          <a:prstGeom prst="rect">
            <a:avLst/>
          </a:prstGeom>
          <a:solidFill>
            <a:srgbClr val="FFFFFF">
              <a:alpha val="7000"/>
            </a:srgbClr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6032" y="3401568"/>
            <a:ext cx="475488" cy="111556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8" name="Text 16"/>
          <p:cNvSpPr/>
          <p:nvPr/>
        </p:nvSpPr>
        <p:spPr>
          <a:xfrm>
            <a:off x="256032" y="3749040"/>
            <a:ext cx="4754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2960" y="3493008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Ensemble Champion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" y="3785616"/>
            <a:ext cx="36393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RF(55%) + LR(20%) + SVM(25%) blend. AUC=0.961. Accuracy=87.1%. CV=0.934 +/- 0.003. Stable across all time periods.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828032" y="914400"/>
            <a:ext cx="4315968" cy="1115568"/>
          </a:xfrm>
          <a:prstGeom prst="rect">
            <a:avLst/>
          </a:prstGeom>
          <a:solidFill>
            <a:srgbClr val="FFFFFF">
              <a:alpha val="7000"/>
            </a:srgbClr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28032" y="914400"/>
            <a:ext cx="475488" cy="111556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3" name="Text 21"/>
          <p:cNvSpPr/>
          <p:nvPr/>
        </p:nvSpPr>
        <p:spPr>
          <a:xfrm>
            <a:off x="4828032" y="1261872"/>
            <a:ext cx="4754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394960" y="1005840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</a:rPr>
              <a:t>Richer Survival Story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394960" y="1298448"/>
            <a:ext cx="36393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15.4% event rate vs 1.5% before. 71,446 real deterioration events. KM log-rank p=0.0000. Cox PH assumption passed.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828032" y="2157984"/>
            <a:ext cx="4315968" cy="1115568"/>
          </a:xfrm>
          <a:prstGeom prst="rect">
            <a:avLst/>
          </a:prstGeom>
          <a:solidFill>
            <a:srgbClr val="FFFFFF">
              <a:alpha val="7000"/>
            </a:srgbClr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28032" y="2157984"/>
            <a:ext cx="475488" cy="111556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8" name="Text 26"/>
          <p:cNvSpPr/>
          <p:nvPr/>
        </p:nvSpPr>
        <p:spPr>
          <a:xfrm>
            <a:off x="4828032" y="2505456"/>
            <a:ext cx="4754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394960" y="2249424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</a:rPr>
              <a:t>Future Improvements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394960" y="2542032"/>
            <a:ext cx="36393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Real NBI data integration. Multi-year forecasting horizon. SHAP on ensemble for deeper interpretability. Annual retraining pipeline.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274320" y="4681728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DATA 245 — Machine Learning Technologies  |  SJSU  |  Akash Kumar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SafeSpan Bridge Analytics</dc:title>
  <dc:subject>PptxGenJS Presentation</dc:subject>
  <dc:creator>Akash Kumar</dc:creator>
  <cp:lastModifiedBy>Akash Kumar</cp:lastModifiedBy>
  <cp:revision>1</cp:revision>
  <dcterms:created xsi:type="dcterms:W3CDTF">2026-05-06T00:11:11Z</dcterms:created>
  <dcterms:modified xsi:type="dcterms:W3CDTF">2026-05-06T00:11:11Z</dcterms:modified>
</cp:coreProperties>
</file>