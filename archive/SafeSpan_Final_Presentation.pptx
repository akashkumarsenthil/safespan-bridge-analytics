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DATA 245  ·  Machine Learning Technologies  ·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SafeSpan Bridge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73E8"/>
                </a:solidFill>
              </a:rPr>
              <a:t>Predictive Maintenance for U.S. Bridge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210312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2880360"/>
            <a:ext cx="210312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29077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Drift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05856" y="2880360"/>
            <a:ext cx="21031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29077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Survival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2880360"/>
            <a:ext cx="2103120" cy="4114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29077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4.8 M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NBI Data  ·  2018 – 2025  ·  600 K Bridges  ·  Temporal Hold-out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06240"/>
            <a:ext cx="11365992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Team:  Akashkumar Senthilkumar   ·   Pramod Satya Dindukurthi   ·   Shriram Dundigalla   ·   Shruthi Thirukumaran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Bridge Safety?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Motivation &amp; Real-World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516636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935"/>
                </a:solidFill>
              </a:rPr>
              <a:t>The Scale of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617,000+ public road bridges in the U.S.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1 in 12 bridges is structurally deficient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~7-8% rated Critical at any given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38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Average bridge age now exceeds 45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Reactive repair costs 5-6x more than proactive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 Inspection is annual — but decisions are made with stale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5669280" cy="516636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3E8"/>
                </a:solidFill>
              </a:rPr>
              <a:t>What SafeSpan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011680"/>
            <a:ext cx="534924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62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Predicts condition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95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Critical / Poor / Fair / Good — before next 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71800"/>
            <a:ext cx="5349240" cy="822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22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Detects distribution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55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Flags when bridge population changes drift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34924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82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Quantifies time-to-failure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Survival analysis: how long before a good bridge degrades?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892040"/>
            <a:ext cx="5349240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942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Safety-critical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76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Tracks Critical bridges mis-labelled as Good — lives at stake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Dataset: National Bridge Inventory (NBI)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Source · Features · Target ·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2148840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4630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4.8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9202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Bridge-Year
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417320"/>
            <a:ext cx="214884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4630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600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9202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Unique Bridge
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9472" y="1417320"/>
            <a:ext cx="2148840" cy="10515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4630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9202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2018 – 2025
Annual Snapshots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5472" y="1417320"/>
            <a:ext cx="2148840" cy="10515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4630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19202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Raw NBI
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1417320"/>
            <a:ext cx="2148840" cy="1051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4630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9202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Critical · Poor
Fair · Good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651760"/>
            <a:ext cx="5303520" cy="3931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3E8"/>
                </a:solidFill>
              </a:rPr>
              <a:t>Key Input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00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BRIDGE_AGE_AT_INSPECTION — years since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ADT_029 — average daily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95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MAX_SPAN_LEN_MT_048 — structural span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42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OPERATING_RATING_064 — safe load 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90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INVENTORY_RATING_066 — posted load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STRUCTURE_KIND_043 — bridge material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85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STATE_CODE_001 — geographic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32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FUNCTIONAL_CLASS_026 — road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80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+ 5 engineered domain features (see slide 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651760"/>
            <a:ext cx="5806440" cy="3931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743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</a:rPr>
              <a:t>Target Variable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200400"/>
            <a:ext cx="201168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200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Critical    Min rating 0–3  |  ~3% of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584448"/>
            <a:ext cx="201168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844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Poor        Min rating = 4   |  ~7% of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968496"/>
            <a:ext cx="201168" cy="292608"/>
          </a:xfrm>
          <a:prstGeom prst="rect">
            <a:avLst/>
          </a:prstGeom>
          <a:solidFill>
            <a:srgbClr val="BCB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6849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Fair        Min rating 5–6  |  ~33% of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352544"/>
            <a:ext cx="20116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3525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Good        Min rating 7–9  |  ~57% of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892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7C00"/>
                </a:solidFill>
              </a:rPr>
              <a:t>Preprocessing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  •  10 leakage columns removed (raw rating + FHWA eval scores)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623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  •  Median imputation for NaN in ratio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943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  •  Label encoding for categorical columns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  •  Class weights balanced to counter 57:3 Good:Critical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Input → Model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End-to-End Pipeline — The Critical Requirement</a:t>
            </a:r>
          </a:p>
        </p:txBody>
      </p:sp>
      <p:pic>
        <p:nvPicPr>
          <p:cNvPr id="5" name="Picture 4" descr="pp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823192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663440"/>
            <a:ext cx="2240280" cy="1920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4709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INPUT TYPE
Tabular features
(NBI structured data)
Shape: (N, ~100 cols)
4.2 M train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4663440"/>
            <a:ext cx="2240280" cy="1920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4709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LEAKAGE GUARD
Drops 10 columns
that define the label
Prevents data leakage
Essential for validity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663440"/>
            <a:ext cx="2240280" cy="1920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4709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ENGINEERING
5 new features created
from domain physics
Ratios, logs, gaps
Reduces raw noise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4663440"/>
            <a:ext cx="2240280" cy="1920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4709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MODEL
LightGBM Classifier
Gradient-boosted trees
Balanced class weights
500 estimators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92840" y="4663440"/>
            <a:ext cx="2240280" cy="1920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65992" y="4709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OUTPUT TYPE
4-class label
Critical / Poor
Fair / Good
+ Probability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73E8"/>
                </a:solidFill>
              </a:rPr>
              <a:t>Output is a 4-class multi-class classification  |  Also produces per-class probabilities for calibration &amp;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Proposed Solution: Three Analytical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What is new / different / why it works</a:t>
            </a:r>
          </a:p>
        </p:txBody>
      </p:sp>
      <p:pic>
        <p:nvPicPr>
          <p:cNvPr id="5" name="Picture 4" descr="ppt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823192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" y="4526280"/>
            <a:ext cx="3703320" cy="2148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4572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Why Classification?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983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Most bridges labelled annually — tabular supervised learning is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367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LightGBM handles 4.2 M rows + 100 features in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75157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class_weight='balanced' prevents Good-class dominance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135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Safety-critical metric: Critical→Good misclassification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4526280"/>
            <a:ext cx="3703320" cy="2148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572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Why Drift Analysis?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983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A model trained in 2018 may fail silently in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5367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PSI (numeric) + Jensen-Shannon (categorical) = industry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575157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Target drift found: Fair bridges −20pp, Good +16pp (2018→2025)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6135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Quantifies WHEN and HOW MUCH to retrain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1312" y="4526280"/>
            <a:ext cx="3703320" cy="2148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572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Why Survival Analysis?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983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ML gives snapshot prediction; KM/Cox gives time-to-event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367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Kaplan-Meier: non-parametric, handles censored bridges correctly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75157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Cox PH: multi-feature hazard ratios — who degrades fastest?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6135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• Directly prioritises inspection scheduling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Feature Engineering — 5 Domain-Informed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Raw NBI columns re-expressed as structural and operational signals</a:t>
            </a:r>
          </a:p>
        </p:txBody>
      </p:sp>
      <p:pic>
        <p:nvPicPr>
          <p:cNvPr id="5" name="Picture 4" descr="ppt_featur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40312" cy="2377440"/>
          </a:xfrm>
          <a:prstGeom prst="rect">
            <a:avLst/>
          </a:prstGeom>
        </p:spPr>
      </p:pic>
      <p:pic>
        <p:nvPicPr>
          <p:cNvPr id="6" name="Picture 5" descr="07_engineered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57600"/>
            <a:ext cx="11823192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675120"/>
            <a:ext cx="11430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Each feature separates condition classes — overlapping but informative distributions confirm domain relevance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Drift Analysis: PSI + Jensen-Shannon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Measuring how much the bridge population changed from 2018 to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71600"/>
            <a:ext cx="3840480" cy="52578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</a:rPr>
              <a:t>Why We Do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A 2018-trained model deployed in 2025 may see a very different bridge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9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PSI (Population Stability Index) measures numeric feature shift vs. 2018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Jensen-Shannon distance measures categorical shift (material, state, owner type)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PSI &lt; 0.10 → stable  |  0.10-0.25 → moderate  |  ≥ 0.25 → retrain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758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JS &lt; 0.05 → low  |  0.05-0.15 → moderate  |  &gt; 0.15 → high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Computed for EVERY year (2019-2025) vs. 2018 — saved to CSV</a:t>
            </a:r>
          </a:p>
        </p:txBody>
      </p:sp>
      <p:pic>
        <p:nvPicPr>
          <p:cNvPr id="13" name="Picture 12" descr="08_psi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635240" cy="2606040"/>
          </a:xfrm>
          <a:prstGeom prst="rect">
            <a:avLst/>
          </a:prstGeom>
        </p:spPr>
      </p:pic>
      <p:pic>
        <p:nvPicPr>
          <p:cNvPr id="14" name="Picture 13" descr="09_js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23360"/>
            <a:ext cx="763524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Target Drift: The Label Distribution Is Changing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Not just feature drift — the real-world prevalence of condition classes shifted over 7 years</a:t>
            </a:r>
          </a:p>
        </p:txBody>
      </p:sp>
      <p:pic>
        <p:nvPicPr>
          <p:cNvPr id="5" name="Picture 4" descr="10_target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86384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371600"/>
            <a:ext cx="3703320" cy="52120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965960"/>
            <a:ext cx="338328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016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 bridges:  ↑ ~+16 pp (2018→2025)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23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More bridges now in top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081528"/>
            <a:ext cx="3383280" cy="1005840"/>
          </a:xfrm>
          <a:prstGeom prst="rect">
            <a:avLst/>
          </a:prstGeom>
          <a:solidFill>
            <a:srgbClr val="BCB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132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 bridges:  ↓ ~−20 pp (2018→2025)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387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Largest single shift in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97096"/>
            <a:ext cx="3383280" cy="10058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247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Poor bridges:  ± slight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542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Relatively stable minority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5312664"/>
            <a:ext cx="3383280" cy="10058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363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Critical:  ± small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769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Rare but highest consequence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72000"/>
            <a:ext cx="7726679" cy="822960"/>
          </a:xfrm>
          <a:prstGeom prst="rect">
            <a:avLst/>
          </a:prstGeom>
          <a:solidFill>
            <a:srgbClr val="1A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Implication: A model trained on 2018 label proportions is mis-calibrated for 2025.
Class priors are wrong — this is a statistical argument for ANNUAL retraining.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Train/test strategy · Model choice · Hyperparameters · Evaluation metrics</a:t>
            </a:r>
          </a:p>
        </p:txBody>
      </p:sp>
      <p:pic>
        <p:nvPicPr>
          <p:cNvPr id="5" name="Picture 4" descr="ppt_ex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31752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389120"/>
            <a:ext cx="11548872" cy="22402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Why These Metrics?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9834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Treats all 4 classes equally — penalises poor Critical class detection despite tiny 3%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Weighted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53035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Weighted by class frequency — reflects overall dataset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235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ROC-AUC (OvR)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6235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One-vs-rest area under curve — measures discriminability across all class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Critical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943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Are we catching Critical bridges? The recall of the highest-risk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Critical→Good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6263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SAFETY METRIC: fraction of Critical bridges misclassified as Good — the most dangerous failure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Model Performance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2025 hold-out metrics · What degrades when we stop retraining</a:t>
            </a:r>
          </a:p>
        </p:txBody>
      </p:sp>
      <p:pic>
        <p:nvPicPr>
          <p:cNvPr id="5" name="Picture 4" descr="ppt_metric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2148840"/>
          </a:xfrm>
          <a:prstGeom prst="rect">
            <a:avLst/>
          </a:prstGeom>
        </p:spPr>
      </p:pic>
      <p:pic>
        <p:nvPicPr>
          <p:cNvPr id="6" name="Picture 5" descr="11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429000"/>
            <a:ext cx="6583680" cy="3246120"/>
          </a:xfrm>
          <a:prstGeom prst="rect">
            <a:avLst/>
          </a:prstGeom>
        </p:spPr>
      </p:pic>
      <p:pic>
        <p:nvPicPr>
          <p:cNvPr id="7" name="Picture 6" descr="15_model_performance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429000"/>
            <a:ext cx="516636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6537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Trained 2018-22, evaluated on 2023/24/25 without retraining → F1 drops, errors 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Survival Analysis: How Long Before a Bridge Deteriorates?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Kaplan-Meier estimator + Cox Proportional Hazards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71600"/>
            <a:ext cx="3246120" cy="52120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63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What &amp;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Event 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202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Bridge goes from Good/Fair → Poor/Critical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Duration: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Years from first Good/Fair inspection to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Censoring: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7121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Bridges still Good/Fair in 2025 — correctly handled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467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Kaplan-Meier: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4670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Non-parametric survival curve, no assumptions on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Log-rank test: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Statistically tests if two groups deteriorate at different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Cox PH model: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97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Multi-variable hazard ratios — which features speed up failure?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HR &gt; 1: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Feature increases deterioration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486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HR &lt; 1: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24865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Feature is protective</a:t>
            </a:r>
          </a:p>
        </p:txBody>
      </p:sp>
      <p:pic>
        <p:nvPicPr>
          <p:cNvPr id="23" name="Picture 22" descr="16_km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25880"/>
            <a:ext cx="4160520" cy="2606040"/>
          </a:xfrm>
          <a:prstGeom prst="rect">
            <a:avLst/>
          </a:prstGeom>
        </p:spPr>
      </p:pic>
      <p:pic>
        <p:nvPicPr>
          <p:cNvPr id="24" name="Picture 23" descr="17_km_by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25880"/>
            <a:ext cx="3931920" cy="2606040"/>
          </a:xfrm>
          <a:prstGeom prst="rect">
            <a:avLst/>
          </a:prstGeom>
        </p:spPr>
      </p:pic>
      <p:pic>
        <p:nvPicPr>
          <p:cNvPr id="25" name="Picture 24" descr="20_cox_hazard_rat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4023360"/>
            <a:ext cx="8183879" cy="2606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40480" y="6675120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Older bridges deteriorate significantly faster (log-rank p &lt; 0.05)  ·  Age/span ratio &amp; rating gap are top Cox risk factors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Takeaways · Applications · Future improvements</a:t>
            </a:r>
          </a:p>
        </p:txBody>
      </p:sp>
      <p:pic>
        <p:nvPicPr>
          <p:cNvPr id="5" name="Picture 4" descr="ppt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823192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389120"/>
            <a:ext cx="5623560" cy="22402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Add GIS/geospatial features (bridge geography, flood zones, climate exposure)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760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Implement online learning for continuous drift adaptation without full 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144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Extend to regression: predict exact rating score, not just class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52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Calibrate predicted probabilities with Platt scaling for better risk ranking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89120"/>
            <a:ext cx="5669280" cy="22402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480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Real-World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937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FHWA / State DOTs: automate annual inspection priority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2760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Budget allocation: focus limited funds on highest-risk 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6144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Proactive alert: flag model staleness before Critical bridges are 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9527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• Insurance &amp; policy: evidence-based infrastructure risk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745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SafeSpan  ·  DATA 245 Final Presentation  ·  NBI 2018-2025  ·  Akashkumar · Pramod · Shriram · Shruthi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