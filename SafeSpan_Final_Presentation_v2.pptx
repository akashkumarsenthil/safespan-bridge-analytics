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B1F3A"/>
                </a:solidFill>
                <a:latin typeface="Arial"/>
              </a:rPr>
              <a:t>Average PSI vs 2018 Baseline  (all &lt; 0.10 = No drift)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PSI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7556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ADT_029</c:v>
                  </c:pt>
                  <c:pt idx="1">
                    <c:v>LOG_ADT</c:v>
                  </c:pt>
                  <c:pt idx="2">
                    <c:v>OPER. RATING</c:v>
                  </c:pt>
                  <c:pt idx="3">
                    <c:v>TRAFFIC DENSITY</c:v>
                  </c:pt>
                  <c:pt idx="4">
                    <c:v>BRIDGE AGE</c:v>
                  </c:pt>
                  <c:pt idx="5">
                    <c:v>SCOUR</c:v>
                  </c:pt>
                  <c:pt idx="6">
                    <c:v>AGE/SPAN</c:v>
                  </c:pt>
                  <c:pt idx="7">
                    <c:v>INV. RATING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0.0431</c:v>
                </c:pt>
                <c:pt idx="1">
                  <c:v>0.0431</c:v>
                </c:pt>
                <c:pt idx="2">
                  <c:v>0.0276</c:v>
                </c:pt>
                <c:pt idx="3">
                  <c:v>0.0257</c:v>
                </c:pt>
                <c:pt idx="4">
                  <c:v>0.0213</c:v>
                </c:pt>
                <c:pt idx="5">
                  <c:v>0.0173</c:v>
                </c:pt>
                <c:pt idx="6">
                  <c:v>0.0158</c:v>
                </c:pt>
                <c:pt idx="7">
                  <c:v>0.0141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47556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8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B1F3A"/>
                </a:solidFill>
                <a:latin typeface="Arial"/>
              </a:rPr>
              <a:t>SHAP Global Feature Importance (10K sample)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 value|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47556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1F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BRIDGE_AGE</c:v>
                  </c:pt>
                  <c:pt idx="1">
                    <c:v>STRUCT_LEN</c:v>
                  </c:pt>
                  <c:pt idx="2">
                    <c:v>MAX_SPAN</c:v>
                  </c:pt>
                  <c:pt idx="3">
                    <c:v>LONG_017</c:v>
                  </c:pt>
                  <c:pt idx="4">
                    <c:v>LAT_016</c:v>
                  </c:pt>
                  <c:pt idx="5">
                    <c:v>COUNTY</c:v>
                  </c:pt>
                  <c:pt idx="6">
                    <c:v>DECK_UTIL</c:v>
                  </c:pt>
                  <c:pt idx="7">
                    <c:v>DECK_WIDTH</c:v>
                  </c:pt>
                  <c:pt idx="8">
                    <c:v>STATE</c:v>
                  </c:pt>
                  <c:pt idx="9">
                    <c:v>AGE_X_SPANS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0.1426</c:v>
                </c:pt>
                <c:pt idx="1">
                  <c:v>0.0626</c:v>
                </c:pt>
                <c:pt idx="2">
                  <c:v>0.0536</c:v>
                </c:pt>
                <c:pt idx="3">
                  <c:v>0.0433</c:v>
                </c:pt>
                <c:pt idx="4">
                  <c:v>0.042</c:v>
                </c:pt>
                <c:pt idx="5">
                  <c:v>0.0408</c:v>
                </c:pt>
                <c:pt idx="6">
                  <c:v>0.0403</c:v>
                </c:pt>
                <c:pt idx="7">
                  <c:v>0.0388</c:v>
                </c:pt>
                <c:pt idx="8">
                  <c:v>0.0326</c:v>
                </c:pt>
                <c:pt idx="9">
                  <c:v>0.0313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47556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0292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🌉 SafeSpan Bridge Analytics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0040" y="14630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</a:rPr>
              <a:t>Predictive Maintenance for U.S. Bridge Infrastructure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" y="1965960"/>
            <a:ext cx="3657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2148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4.8M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25786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Bridge-year rows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2148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8 Years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68880" y="25786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2018–2025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17720" y="2148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600K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25786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Unique bridges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66560" y="2148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66560" y="25786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Models compared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466344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DATA 245 — Machine Learning Technologies  |  SJSU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46634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Akash Kumar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Motivation — Why Bridge Condition Prediction?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0233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0233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96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3444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50" b="1" dirty="0">
                <a:solidFill>
                  <a:srgbClr val="DC2626"/>
                </a:solidFill>
              </a:rPr>
              <a:t>614,387</a:t>
            </a:r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475569"/>
                </a:solidFill>
              </a:rPr>
              <a:t> U.S. bridges are inspected every 2 years
</a:t>
            </a:r>
            <a:pPr indent="0" marL="0">
              <a:lnSpc>
                <a:spcPct val="160000"/>
              </a:lnSpc>
              <a:buNone/>
            </a:pPr>
            <a:r>
              <a:rPr lang="en-US" sz="1150" b="1" dirty="0">
                <a:solidFill>
                  <a:srgbClr val="DC2626"/>
                </a:solidFill>
              </a:rPr>
              <a:t>7.5%</a:t>
            </a:r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475569"/>
                </a:solidFill>
              </a:rPr>
              <a:t> were structurally deficient as of 2018
</a:t>
            </a:r>
            <a:pPr indent="0" marL="0">
              <a:lnSpc>
                <a:spcPct val="160000"/>
              </a:lnSpc>
              <a:buNone/>
            </a:pPr>
            <a:r>
              <a:rPr lang="en-US" sz="1150" b="1" dirty="0">
                <a:solidFill>
                  <a:srgbClr val="475569"/>
                </a:solidFill>
              </a:rPr>
              <a:t>Reactive maintenance costs</a:t>
            </a:r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475569"/>
                </a:solidFill>
              </a:rPr>
              <a:t> 4× more than preventive
</a:t>
            </a:r>
            <a:pPr indent="0" marL="0">
              <a:lnSpc>
                <a:spcPct val="160000"/>
              </a:lnSpc>
              <a:buNone/>
            </a:pPr>
            <a:r>
              <a:rPr lang="en-US" sz="1150" b="1" dirty="0">
                <a:solidFill>
                  <a:srgbClr val="475569"/>
                </a:solidFill>
              </a:rPr>
              <a:t>Manual inspection</a:t>
            </a:r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475569"/>
                </a:solidFill>
              </a:rPr>
              <a:t> is expensive &amp; inconsistent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852928"/>
            <a:ext cx="37490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9443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Real-World Impact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2004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I-35W Minneapolis collapse (2007) — 13 lives lost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FIRA estimates $380B infrastructure gap by 2030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822960"/>
            <a:ext cx="42976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822960"/>
            <a:ext cx="4297680" cy="5486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8961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Our Solution: ML-Driven Triage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1261872"/>
            <a:ext cx="347472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2618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🔮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66360" y="127101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Predict condition 1 year ahead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166360" y="14538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enabling proactive scheduling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1938528"/>
            <a:ext cx="347472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1938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66360" y="19476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Flag Critical bridges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166360" y="21305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before failure, not after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615184"/>
            <a:ext cx="347472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2615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💰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66360" y="26243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Prioritize limited DOT budgets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166360" y="280720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by traffic-weighted risk score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3291840"/>
            <a:ext cx="347472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3291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66360" y="33009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Temporal drift monitoring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166360" y="348386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detect when model needs retraining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2245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📌 Problem Statement: Given NBI bridge inspection records (2018–2024), predict whether a bridge will be in Critical / Poor / Fair / Good condition in the 2025 inspection cycle.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Dataset — National Bridge Inventory (FHWA)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99339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1993392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14400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</a:rPr>
              <a:t>4.8M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353312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Bridge-year rows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3160" y="822960"/>
            <a:ext cx="199339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822960"/>
            <a:ext cx="1993392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2423160" y="914400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</a:rPr>
              <a:t>600K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14600" y="1353312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Unique bridges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822960"/>
            <a:ext cx="199339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822960"/>
            <a:ext cx="1993392" cy="5486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914400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48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63440" y="1353312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Raw NBI features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20840" y="822960"/>
            <a:ext cx="199339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822960"/>
            <a:ext cx="1993392" cy="5486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914400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12280" y="1353312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Condition classes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1901952"/>
            <a:ext cx="41148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1901952"/>
            <a:ext cx="41148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19751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Key Input Features (48 → 27 after filter)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2331720"/>
            <a:ext cx="91440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34086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Structural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371600" y="2340864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Year built, span length, deck width, # spans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2660904"/>
            <a:ext cx="91440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267004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Traffic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371600" y="267004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ADT (daily traffic), truck %, lanes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2990088"/>
            <a:ext cx="91440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Ratings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371600" y="299923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Operating &amp; inventory load ratings (metric tons)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319272"/>
            <a:ext cx="91440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332841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Location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371600" y="332841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State, county, lat/lon, functional class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648456"/>
            <a:ext cx="91440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3657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Inspection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371600" y="3657600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Frequency (months), scour critical, owner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3977640"/>
            <a:ext cx="91440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39867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Engineered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371600" y="3986784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Age×Spans, Traffic Density, Log(ADT), …×10 total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0" y="1901952"/>
            <a:ext cx="42976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0" y="1901952"/>
            <a:ext cx="4297680" cy="5486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4" name="Text 42"/>
          <p:cNvSpPr/>
          <p:nvPr/>
        </p:nvSpPr>
        <p:spPr>
          <a:xfrm>
            <a:off x="4709160" y="197510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Target Variable — BRIDGE_CONDITION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663440" y="2304288"/>
            <a:ext cx="164592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6" name="Text 44"/>
          <p:cNvSpPr/>
          <p:nvPr/>
        </p:nvSpPr>
        <p:spPr>
          <a:xfrm>
            <a:off x="4919472" y="23134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Good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919472" y="25146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Min rating ≥ 7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949440" y="2377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6A34A"/>
                </a:solidFill>
              </a:rPr>
              <a:t>25.8% of data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663440" y="2807208"/>
            <a:ext cx="164592" cy="384048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50" name="Text 48"/>
          <p:cNvSpPr/>
          <p:nvPr/>
        </p:nvSpPr>
        <p:spPr>
          <a:xfrm>
            <a:off x="4919472" y="28163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8A04"/>
                </a:solidFill>
              </a:rPr>
              <a:t>Fair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919472" y="3017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Min rating 5–6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949440" y="28803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A8A04"/>
                </a:solidFill>
              </a:rPr>
              <a:t>48.9% of data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4663440" y="3310128"/>
            <a:ext cx="164592" cy="38404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4" name="Text 52"/>
          <p:cNvSpPr/>
          <p:nvPr/>
        </p:nvSpPr>
        <p:spPr>
          <a:xfrm>
            <a:off x="4919472" y="33192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Poor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919472" y="35204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Min rating 3–4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949440" y="33832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A580C"/>
                </a:solidFill>
              </a:rPr>
              <a:t>19.1% of data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4663440" y="3813048"/>
            <a:ext cx="164592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8" name="Text 56"/>
          <p:cNvSpPr/>
          <p:nvPr/>
        </p:nvSpPr>
        <p:spPr>
          <a:xfrm>
            <a:off x="4919472" y="38221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Critical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919472" y="40233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Min rating &lt; 3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949440" y="38862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C2626"/>
                </a:solidFill>
              </a:rPr>
              <a:t>6.1%  of data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274320" y="4480560"/>
            <a:ext cx="8595360" cy="438912"/>
          </a:xfrm>
          <a:prstGeom prst="rect">
            <a:avLst/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1480" y="4517136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400E"/>
                </a:solidFill>
              </a:rPr>
              <a:t>Preprocessing: Consistent panel (bridges in ALL 8 years) · Pearson filter ρ&gt;0.90 removes 5 redundant cols · Leakage guard removes raw condition ratings · Median imputation for missing values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Input → Model → Output  (End-to-End Pipeline)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804672"/>
            <a:ext cx="25603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804672"/>
            <a:ext cx="25603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87782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INPUT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" y="12070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Tabular · Annual NBI Inspection Record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508760"/>
            <a:ext cx="237744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160020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Shape: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15568" y="16002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1 row per bridge per year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6032" y="184708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Type: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15568" y="18470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Numeric + categorical (tabular)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6032" y="209397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Features: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15568" y="209397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27 after correlation filter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6032" y="23408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Examples: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15568" y="234086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Bridge age, ADT, span length,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15568" y="25420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deck width, owner, state, scour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6032" y="278892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Engineered: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15568" y="278892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TRAFFIC_DENSITY, LOG_ADT,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15568" y="29900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AGE_X_SPANS, AGE_TO_SPAN_RATIO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6032" y="323697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Leakage: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15568" y="323697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Condition ratings EXCLUDED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15568" y="343814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(would directly reveal label)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834640" y="2788920"/>
            <a:ext cx="54864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2670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</a:rPr>
              <a:t>▶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0" y="804672"/>
            <a:ext cx="265176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0" y="804672"/>
            <a:ext cx="2651760" cy="5486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0" y="87782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MODEL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703320" y="12070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Random Forest Classifier (Champion)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730752" y="1508760"/>
            <a:ext cx="246888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3730752" y="16093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Trees: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0" y="160934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300 decision trees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730752" y="19568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Strategy: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0" y="1956816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class_weight = balanced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730752" y="23042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Depth: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72000" y="2304288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max_depth = 25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730752" y="26517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Leaf min: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0" y="265176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min_samples_leaf = 10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730752" y="29992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Split: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0" y="299923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max_features = sqrt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730752" y="334670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Imbalance: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572000" y="334670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Sample weights (balanced)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730752" y="36941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Training: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572000" y="3694176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3.36M rows · 80/20 split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730752" y="40416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CV: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572000" y="4041648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5-fold stratified · F1=0.384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400800" y="2788920"/>
            <a:ext cx="54864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6288" y="2670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</a:rPr>
              <a:t>▶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7223760" y="804672"/>
            <a:ext cx="173736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223760" y="804672"/>
            <a:ext cx="173736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2" name="Text 50"/>
          <p:cNvSpPr/>
          <p:nvPr/>
        </p:nvSpPr>
        <p:spPr>
          <a:xfrm>
            <a:off x="7223760" y="87782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OUTPUT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223760" y="120700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Multi-class label + probability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269480" y="1508760"/>
            <a:ext cx="164592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5" name="Shape 53"/>
          <p:cNvSpPr/>
          <p:nvPr/>
        </p:nvSpPr>
        <p:spPr>
          <a:xfrm>
            <a:off x="7269480" y="1609344"/>
            <a:ext cx="1645920" cy="384048"/>
          </a:xfrm>
          <a:prstGeom prst="rect">
            <a:avLst/>
          </a:prstGeom>
          <a:solidFill>
            <a:srgbClr val="DC2626">
              <a:alpha val="12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7269480" y="160934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Critical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7269480" y="2112264"/>
            <a:ext cx="1645920" cy="384048"/>
          </a:xfrm>
          <a:prstGeom prst="rect">
            <a:avLst/>
          </a:prstGeom>
          <a:solidFill>
            <a:srgbClr val="EA580C">
              <a:alpha val="12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7269480" y="211226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</a:rPr>
              <a:t>Poor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7269480" y="2615184"/>
            <a:ext cx="1645920" cy="384048"/>
          </a:xfrm>
          <a:prstGeom prst="rect">
            <a:avLst/>
          </a:prstGeom>
          <a:solidFill>
            <a:srgbClr val="CA8A04">
              <a:alpha val="12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7269480" y="261518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8A04"/>
                </a:solidFill>
              </a:rPr>
              <a:t>Fair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7269480" y="3118104"/>
            <a:ext cx="1645920" cy="384048"/>
          </a:xfrm>
          <a:prstGeom prst="rect">
            <a:avLst/>
          </a:prstGeom>
          <a:solidFill>
            <a:srgbClr val="16A34A">
              <a:alpha val="12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7269480" y="311810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Good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7269480" y="3703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+ probability score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per class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182880" y="4736592"/>
            <a:ext cx="8778240" cy="274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5" name="Text 63"/>
          <p:cNvSpPr/>
          <p:nvPr/>
        </p:nvSpPr>
        <p:spPr>
          <a:xfrm>
            <a:off x="274320" y="47548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Downstream → RISK_SCORE = P(Critical)×4 + P(Poor)×3 + P(Fair)×2 + P(Good)×1   →   WEIGHTED_RISK = RISK_SCORE × log(1+ADT)   →   Inspection priority ranking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 Drift Analysis — PSI + Jensen-Shannon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804672"/>
          <a:ext cx="512064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804672"/>
            <a:ext cx="333756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77840" y="804672"/>
            <a:ext cx="333756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0" y="9144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580C"/>
                </a:solidFill>
              </a:rPr>
              <a:t>📉 COVID Traffic Shock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669280" y="11887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ADT drops 25% in 2020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→ recovers fully by 2022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Event-driven, not systematic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577840" y="1947672"/>
            <a:ext cx="333756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77840" y="1947672"/>
            <a:ext cx="33375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0" y="20574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</a:rPr>
              <a:t>📋 Policy Step-Change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669280" y="23317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AASHTO LRFR adoption 2021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recalibrated load ratings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One-time shift, then stable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77840" y="3090672"/>
            <a:ext cx="333756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577840" y="3090672"/>
            <a:ext cx="3337560" cy="5486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6" name="Text 13"/>
          <p:cNvSpPr/>
          <p:nvPr/>
        </p:nvSpPr>
        <p:spPr>
          <a:xfrm>
            <a:off x="5669280" y="32004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5569"/>
                </a:solidFill>
              </a:rPr>
              <a:t>📅 Mechanical Aging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669280" y="34747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BRIDGE_AGE +1yr per year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Fully expected + explainable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Lowest PSI, linear climb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74320" y="3858768"/>
            <a:ext cx="512064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4048" y="3895344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6534"/>
                </a:solidFill>
              </a:rPr>
              <a:t>JS Distance = 0.0 for all categorical features (state, owner, material) — expected in consistent panel: same 600K bridge IDs repeat every year → distributions structurally invariant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74320" y="4370832"/>
            <a:ext cx="8595360" cy="5486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1" name="Text 18"/>
          <p:cNvSpPr/>
          <p:nvPr/>
        </p:nvSpPr>
        <p:spPr>
          <a:xfrm>
            <a:off x="411480" y="4425696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 All PSI values &lt; 0.10  —  No significant drift detected. Dataset is stable for temporal generalization while showing realistic, real-world-grounded covariate shift.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Experimental Design — Framework &amp; Validation Strategy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1148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778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Train / Test Split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42062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34440"/>
            <a:ext cx="420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2018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22960" y="1234440"/>
            <a:ext cx="42062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234440"/>
            <a:ext cx="420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2019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280160" y="1234440"/>
            <a:ext cx="42062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1234440"/>
            <a:ext cx="420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2020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737360" y="1234440"/>
            <a:ext cx="42062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1234440"/>
            <a:ext cx="420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2021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194560" y="1234440"/>
            <a:ext cx="42062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1234440"/>
            <a:ext cx="420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2022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651760" y="1234440"/>
            <a:ext cx="42062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1234440"/>
            <a:ext cx="420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2023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08960" y="1234440"/>
            <a:ext cx="42062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1234440"/>
            <a:ext cx="420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2024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566160" y="1234440"/>
            <a:ext cx="42062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23360" y="1234440"/>
            <a:ext cx="420624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0" y="1234440"/>
            <a:ext cx="420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2025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5760" y="1783080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891B2"/>
                </a:solidFill>
              </a:rPr>
              <a:t>← Training (4.2M rows, 7 years) →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069080" y="17190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</a:rPr>
              <a:t>Test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</a:rPr>
              <a:t>600K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5760" y="212140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</a:rPr>
              <a:t>Strict temporal holdout — no 2025 data seen during training or hyperparameter tuning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242316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Within training: 80% train / 20% validation (stratified)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5-fold CV on 250K subset → macro F1 = 0.384 ± 0.004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804672"/>
            <a:ext cx="42976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804672"/>
            <a:ext cx="4297680" cy="5486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8778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Models Benchmarked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45152" y="1216152"/>
            <a:ext cx="64008" cy="2560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3" name="Text 31"/>
          <p:cNvSpPr/>
          <p:nvPr/>
        </p:nvSpPr>
        <p:spPr>
          <a:xfrm>
            <a:off x="4773168" y="121615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</a:rPr>
              <a:t>Logistic Regression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73168" y="138988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Linear baseline (SAGA solver, balanced weights)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45152" y="1563624"/>
            <a:ext cx="64008" cy="2560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6" name="Text 34"/>
          <p:cNvSpPr/>
          <p:nvPr/>
        </p:nvSpPr>
        <p:spPr>
          <a:xfrm>
            <a:off x="4773168" y="156362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</a:rPr>
              <a:t>Gaussian Naive Bayes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73168" y="173736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Probabilistic baseline (feature independence assumed)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45152" y="1911096"/>
            <a:ext cx="64008" cy="2560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7"/>
          <p:cNvSpPr/>
          <p:nvPr/>
        </p:nvSpPr>
        <p:spPr>
          <a:xfrm>
            <a:off x="4773168" y="191109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Random Forest ⭐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773168" y="208483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300 trees, balanced weights — CHAMPION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45152" y="2258568"/>
            <a:ext cx="64008" cy="2560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2" name="Text 40"/>
          <p:cNvSpPr/>
          <p:nvPr/>
        </p:nvSpPr>
        <p:spPr>
          <a:xfrm>
            <a:off x="4773168" y="225856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</a:rPr>
              <a:t>LightGBM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773168" y="243230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Gradient boosting (benchmark sample)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45152" y="2606040"/>
            <a:ext cx="64008" cy="2560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5" name="Text 43"/>
          <p:cNvSpPr/>
          <p:nvPr/>
        </p:nvSpPr>
        <p:spPr>
          <a:xfrm>
            <a:off x="4773168" y="260604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</a:rPr>
              <a:t>SVM RBF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773168" y="277977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Kernel method (15K sample — O(n²) constraint)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3063240"/>
            <a:ext cx="859536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74320" y="3063240"/>
            <a:ext cx="85953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9" name="Text 47"/>
          <p:cNvSpPr/>
          <p:nvPr/>
        </p:nvSpPr>
        <p:spPr>
          <a:xfrm>
            <a:off x="411480" y="31363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Evaluation Metrics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846320" y="31363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Key Hyperparameters (champion RF)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11480" y="34290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● Macro F1: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737360" y="34290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Primary metric — penalises ignoring minority classes equally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11480" y="363931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● ROC-AUC: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737360" y="363931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Imbalance-robust ranking metric (OvR macro)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11480" y="384962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● Crit→Good%: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737360" y="384962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Safety KPI — must-never-misclassify metric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11480" y="405993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● Brier Score: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737360" y="405993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Probability calibration quality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846320" y="3401568"/>
            <a:ext cx="1298448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46320" y="3401568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</a:rPr>
              <a:t>n_estimators=300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181344" y="3401568"/>
            <a:ext cx="1298448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81344" y="3401568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</a:rPr>
              <a:t>max_depth=25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516368" y="3401568"/>
            <a:ext cx="1298448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16368" y="3401568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</a:rPr>
              <a:t>min_samples_leaf=10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846320" y="3785616"/>
            <a:ext cx="1298448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46320" y="3785616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</a:rPr>
              <a:t>max_features=sqrt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181344" y="3785616"/>
            <a:ext cx="1298448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81344" y="3785616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</a:rPr>
              <a:t>class_weight=balanced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516368" y="3785616"/>
            <a:ext cx="1298448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16368" y="3785616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</a:rPr>
              <a:t>sample_weight=balanced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Results — Multi-Model Benchmark (500K sample, 600K test)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22860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280160"/>
                <a:gridCol w="1097280"/>
                <a:gridCol w="1554480"/>
                <a:gridCol w="1005840"/>
              </a:tblGrid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Macro F1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Brier ↓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Crit→Good% ↓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Time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Logistic Regression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0.214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0.537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0.188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</a:rPr>
                        <a:t>34.3%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131s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Gaussian Naive Bayes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0.170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0.539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0.174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</a:rPr>
                        <a:t>0.7% ✅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0.7s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Random Forest ⭐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891B2"/>
                          </a:solidFill>
                        </a:rPr>
                        <a:t>0.548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891B2"/>
                          </a:solidFill>
                        </a:rPr>
                        <a:t>0.801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891B2"/>
                          </a:solidFill>
                        </a:rPr>
                        <a:t>0.135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</a:rPr>
                        <a:t>0.1% ✅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77s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LightGBM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0.358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0.662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0.175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A580C"/>
                          </a:solidFill>
                        </a:rPr>
                        <a:t>22.7%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37s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SVM (RBF)*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0.192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0.528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0.264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</a:rPr>
                        <a:t>31.9%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886s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31729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* SVM trained on 15K rows (RBF predict is O(n_test × n_sv) — 886s on full test set). Kernel method included for completeness.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3520440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3520440"/>
            <a:ext cx="20116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3657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RF Wins All 3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395020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Best F1 + AUC + Safety metric simultaneously → clear champion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432304" y="3520440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32304" y="3520440"/>
            <a:ext cx="2011680" cy="5486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3" name="Text 10"/>
          <p:cNvSpPr/>
          <p:nvPr/>
        </p:nvSpPr>
        <p:spPr>
          <a:xfrm>
            <a:off x="2523744" y="3657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NB Safety Gem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523744" y="395020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Worst F1 but Crit→Good = 0.7% — ultra-conservative. Safer, less useful.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90288" y="3520440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90288" y="3520440"/>
            <a:ext cx="201168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7" name="Text 14"/>
          <p:cNvSpPr/>
          <p:nvPr/>
        </p:nvSpPr>
        <p:spPr>
          <a:xfrm>
            <a:off x="4681728" y="3657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</a:rPr>
              <a:t>LGB vs RF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681728" y="395020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LightGBM underperforms on benchmark sample. RF scales better here.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748272" y="3520440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748272" y="3520440"/>
            <a:ext cx="2011680" cy="5486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1" name="Text 18"/>
          <p:cNvSpPr/>
          <p:nvPr/>
        </p:nvSpPr>
        <p:spPr>
          <a:xfrm>
            <a:off x="6839712" y="3657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</a:rPr>
              <a:t>4-class context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839712" y="395020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Random baseline macro-F1 ≈ 0.12. RF = 4.6× better. AUC is the real headline.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Champion Model — Random Forest v9 · 2025 Test Set (600K rows)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162763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04672"/>
            <a:ext cx="1627632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896112"/>
            <a:ext cx="1627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</a:rPr>
              <a:t>0.306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47472" y="1335024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Macro F1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75104" y="804672"/>
            <a:ext cx="162763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75104" y="804672"/>
            <a:ext cx="1627632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1975104" y="896112"/>
            <a:ext cx="1627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</a:rPr>
              <a:t>0.833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066544" y="1335024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ROC-AUC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94176" y="804672"/>
            <a:ext cx="162763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94176" y="804672"/>
            <a:ext cx="1627632" cy="5486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3694176" y="896112"/>
            <a:ext cx="1627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95.8%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785616" y="1335024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Critical Recall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13248" y="804672"/>
            <a:ext cx="162763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13248" y="804672"/>
            <a:ext cx="1627632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5413248" y="896112"/>
            <a:ext cx="1627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A34A"/>
                </a:solidFill>
              </a:rPr>
              <a:t>2.71%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504688" y="1335024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Crit→Good Error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132320" y="804672"/>
            <a:ext cx="162763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32320" y="804672"/>
            <a:ext cx="1627632" cy="5486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0" y="896112"/>
            <a:ext cx="1627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75569"/>
                </a:solidFill>
              </a:rPr>
              <a:t>0.384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223760" y="1335024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5-fold CV F1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1847088"/>
            <a:ext cx="4937760" cy="23957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1847088"/>
            <a:ext cx="49377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19202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Per-Class Report (v9 champion)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" y="2212848"/>
          <a:ext cx="4773168" cy="1792224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05840"/>
                <a:gridCol w="822960"/>
                <a:gridCol w="1371600"/>
              </a:tblGrid>
              <a:tr h="3584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Support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584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Critical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0.07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0.96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0.13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29,139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4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580C"/>
                          </a:solidFill>
                        </a:rPr>
                        <a:t>Poor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0.64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0.37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0.47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93,254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4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8A04"/>
                          </a:solidFill>
                        </a:rPr>
                        <a:t>Fair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0.04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0.08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245,059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4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</a:rPr>
                        <a:t>Good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0.74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0.43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0.55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232,548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329184" y="40965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High precision on Fair/Good → not over-predicting poor.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High Critical recall → safety-critical bridges rarely missed.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394960" y="1847088"/>
            <a:ext cx="3474720" cy="23957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394960" y="1847088"/>
            <a:ext cx="34747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Text 29"/>
          <p:cNvSpPr/>
          <p:nvPr/>
        </p:nvSpPr>
        <p:spPr>
          <a:xfrm>
            <a:off x="5532120" y="1938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🛡 Safety Metric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532120" y="224942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Critical → Good Error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532120" y="2523744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C2626"/>
                </a:solidFill>
              </a:rPr>
              <a:t>2.71%</a:t>
            </a:r>
            <a:endParaRPr lang="en-US" sz="4400" dirty="0"/>
          </a:p>
        </p:txBody>
      </p:sp>
      <p:sp>
        <p:nvSpPr>
          <p:cNvPr id="35" name="Text 32"/>
          <p:cNvSpPr/>
          <p:nvPr/>
        </p:nvSpPr>
        <p:spPr>
          <a:xfrm>
            <a:off x="5532120" y="3337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791 of 29,139 Critical bridges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predicted as Good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5394960" y="3813048"/>
            <a:ext cx="347472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486400" y="3840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Each misclassified Critical bridge = potential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infrastructure risk undetected for 2 years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56032" y="4617720"/>
            <a:ext cx="859536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65760" y="4645152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</a:rPr>
              <a:t>Why Macro F1 = 0.31 is acceptable: 4-class imbalanced problem — naive baseline ≈ 0.12. RF is 2.5× better. AUC = 0.833 is the imbalance-robust primary metric confirming strong discriminative ability.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Insights — What Worked, What Failed, Lessons Learned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41605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04672"/>
            <a:ext cx="416052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87782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✅ What Worked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1261872"/>
            <a:ext cx="73152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" y="127101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RF champion on benchmark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" y="146304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RF F1=0.548 / AUC=0.801 — best on all 3 metrics clearly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" y="1828800"/>
            <a:ext cx="73152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" y="183794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SHAP interpretability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" y="202996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BRIDGE_AGE top predictor (0.143) — aligns with domain knowledge, no leakage artifacts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2395728"/>
            <a:ext cx="73152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" y="240487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PSI drift detection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" y="25968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COVID dip 2020 + LRFR shift 2021 correctly captured — real-world validated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" y="2962656"/>
            <a:ext cx="73152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" y="297180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Safety metric design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" y="316382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Crit→Good = 2.71% — low enough for infrastructure deployment consideration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" y="3529584"/>
            <a:ext cx="73152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" y="353872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Survival log-rank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" y="373075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 = 7.4×10⁻⁹⁹ — age group difference statistically overwhelming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" y="4096512"/>
            <a:ext cx="73152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" y="410565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Risk ranking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" y="429768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ADT-weighted priority list → actionable output for DOT inspectors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804672"/>
            <a:ext cx="41605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804672"/>
            <a:ext cx="41605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87782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❌ Challenges &amp; Limitations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1261872"/>
            <a:ext cx="73152" cy="47548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4919472" y="127101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LightGBM full-model collapse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19472" y="147218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With class_weight=balanced on 4.2M rows, model over-predicted Critical (86% error). Fixed by switching to RF champion.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1947672"/>
            <a:ext cx="73152" cy="47548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4919472" y="195681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SVM computational constraint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19472" y="215798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RBF predict on 600K test = 886s even with probability=False. Kernel methods don't scale here.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2633472"/>
            <a:ext cx="73152" cy="47548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4919472" y="264261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KM flat survival curves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19472" y="284378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Only 1.5% event rate → median survival = ∞. Survivorship bias from consistent panel design.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3319272"/>
            <a:ext cx="73152" cy="47548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9" name="Text 37"/>
          <p:cNvSpPr/>
          <p:nvPr/>
        </p:nvSpPr>
        <p:spPr>
          <a:xfrm>
            <a:off x="4919472" y="332841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JS drift all zeros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19472" y="352958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Static panel categorical features (state, material) can't drift — structurally expected but looks like a bug.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4005072"/>
            <a:ext cx="73152" cy="47548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2" name="Text 40"/>
          <p:cNvSpPr/>
          <p:nvPr/>
        </p:nvSpPr>
        <p:spPr>
          <a:xfrm>
            <a:off x="4919472" y="401421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Fair class F1 = 0.08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19472" y="421538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Fair bridges (49% of data) have overlapping features with both Good and Poor — hardest class to separate.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Interpretability — SHAP · LIME · PDP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56032" y="804672"/>
          <a:ext cx="50292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40680" y="804672"/>
            <a:ext cx="34290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40680" y="804672"/>
            <a:ext cx="3429000" cy="5486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5"/>
          <p:cNvSpPr/>
          <p:nvPr/>
        </p:nvSpPr>
        <p:spPr>
          <a:xfrm>
            <a:off x="5559552" y="896112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🏚 Age Dominates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559552" y="1152144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BRIDGE_AGE SHAP = 0.143 — Critical bridges average 72yr vs 53yr for Good. Age is the #1 structural risk.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40680" y="1764792"/>
            <a:ext cx="34290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40680" y="1764792"/>
            <a:ext cx="3429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5559552" y="1856232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📏 Geometry Matters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559552" y="2112264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STRUCT_LEN + MAX_SPAN + DECK_UTIL → physical dimensions explain more than traffic volume.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40680" y="2724912"/>
            <a:ext cx="34290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40680" y="2724912"/>
            <a:ext cx="3429000" cy="5486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6" name="Text 13"/>
          <p:cNvSpPr/>
          <p:nvPr/>
        </p:nvSpPr>
        <p:spPr>
          <a:xfrm>
            <a:off x="5559552" y="2816352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</a:rPr>
              <a:t>📍 Geography Clusters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559552" y="3072384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LAT + LON + STATE + COUNTY combined ≈ 0.145. Regional maintenance quality and climate are real predictors.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40680" y="3685032"/>
            <a:ext cx="34290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440680" y="3685032"/>
            <a:ext cx="342900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7"/>
          <p:cNvSpPr/>
          <p:nvPr/>
        </p:nvSpPr>
        <p:spPr>
          <a:xfrm>
            <a:off x="5559552" y="3776472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✅ LIME confirms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559552" y="4032504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Critical bridge predicted Good was aged ≤40yr with large MAX_SPAN — genuine edge case, not a model error.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56032" y="3749040"/>
            <a:ext cx="859536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3776472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6534"/>
                </a:solidFill>
              </a:rPr>
              <a:t>No leakage detected — raw condition ratings (DECK_COND, SUPERSTRUCTURE_COND etc.) were excluded. SHAP surfaces legitimate structural signals. Three complementary methods (SHAP/LIME/PDP) all agree: age and geometry dominate.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56032" y="4224528"/>
            <a:ext cx="8595360" cy="71323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5" name="Text 22"/>
          <p:cNvSpPr/>
          <p:nvPr/>
        </p:nvSpPr>
        <p:spPr>
          <a:xfrm>
            <a:off x="384048" y="427939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PDP shows: As bridge age increases → P(Critical) increases monotonically. As structure length increases → higher P(Critical). As deck utilisation increases → higher stress signal. All physically interpretable.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Survival Analysis — Time to Deterioration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202996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04672"/>
            <a:ext cx="2029968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89611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</a:rPr>
              <a:t>475,966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47472" y="1335024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Bridges analyzed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14016" y="804672"/>
            <a:ext cx="202996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14016" y="804672"/>
            <a:ext cx="2029968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2414016" y="89611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</a:rPr>
              <a:t>7,161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05456" y="1335024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Events (1.5%)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804672"/>
            <a:ext cx="202996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804672"/>
            <a:ext cx="2029968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89611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A34A"/>
                </a:solidFill>
              </a:rPr>
              <a:t>98.5%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63440" y="1335024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Censored (stable)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29984" y="804672"/>
            <a:ext cx="202996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9984" y="804672"/>
            <a:ext cx="2029968" cy="5486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9" name="Text 17"/>
          <p:cNvSpPr/>
          <p:nvPr/>
        </p:nvSpPr>
        <p:spPr>
          <a:xfrm>
            <a:off x="6729984" y="89611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7.4×10⁻⁹⁹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21424" y="1335024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Log-rank p-value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1847088"/>
            <a:ext cx="416052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1847088"/>
            <a:ext cx="4160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19202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Kaplan-Meier Findings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7472" y="2304288"/>
            <a:ext cx="64008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30428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Median survival = ∞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247802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98.5% of bridges never deteriorated within 8yr — structural degradation takes decades, not years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7472" y="2743200"/>
            <a:ext cx="64008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274320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Age group separation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291693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Older bridges (&gt;median age) deteriorate significantly faster — log-rank p = 7.4×10⁻⁹⁹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7472" y="3182112"/>
            <a:ext cx="64008" cy="29260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182112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Rating gap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" y="335584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Load rating gap does NOT predict timing (p=0.77) — condition is more complex than ratings alone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7472" y="3621024"/>
            <a:ext cx="64008" cy="29260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621024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Survivorship bias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" y="379476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Consistent panel excludes demolished bridges → panel skews toward more stable stock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17720" y="1847088"/>
            <a:ext cx="425196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17720" y="1847088"/>
            <a:ext cx="4251960" cy="5486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19202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Cox PH — Hazard Ratios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54880" y="221284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✅ PH assumption passed — no violations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81728" y="2514600"/>
            <a:ext cx="594360" cy="237744"/>
          </a:xfrm>
          <a:prstGeom prst="rect">
            <a:avLst/>
          </a:prstGeom>
          <a:solidFill>
            <a:srgbClr val="DC2626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681728" y="2514600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↑ Risk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321808" y="2514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BRIDGE_AGE: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537960" y="251460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Older = higher hazard (expected)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81728" y="2834640"/>
            <a:ext cx="594360" cy="237744"/>
          </a:xfrm>
          <a:prstGeom prst="rect">
            <a:avLst/>
          </a:prstGeom>
          <a:solidFill>
            <a:srgbClr val="DC2626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4681728" y="2834640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↑ Risk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321808" y="28346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LOG_ADT: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537960" y="28346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Higher traffic = faster wear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81728" y="3154680"/>
            <a:ext cx="594360" cy="237744"/>
          </a:xfrm>
          <a:prstGeom prst="rect">
            <a:avLst/>
          </a:prstGeom>
          <a:solidFill>
            <a:srgbClr val="DC2626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4681728" y="3154680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↑ Risk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321808" y="31546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SCOUR_NUMERIC: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537960" y="315468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Hydraulic vulnerability accelerates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81728" y="3474720"/>
            <a:ext cx="594360" cy="237744"/>
          </a:xfrm>
          <a:prstGeom prst="rect">
            <a:avLst/>
          </a:prstGeom>
          <a:solidFill>
            <a:srgbClr val="16A34A">
              <a:alpha val="2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4681728" y="3474720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↓ Risk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321808" y="34747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OPER. RATING: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537960" y="347472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Higher capacity = more resilient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81728" y="3794760"/>
            <a:ext cx="594360" cy="237744"/>
          </a:xfrm>
          <a:prstGeom prst="rect">
            <a:avLst/>
          </a:prstGeom>
          <a:solidFill>
            <a:srgbClr val="16A34A">
              <a:alpha val="2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4681728" y="3794760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↓ Risk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321808" y="37947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INSPECT_FREQ: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537960" y="379476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More frequent = earlier intervention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56032" y="4178808"/>
            <a:ext cx="8595360" cy="74980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1" name="Text 59"/>
          <p:cNvSpPr/>
          <p:nvPr/>
        </p:nvSpPr>
        <p:spPr>
          <a:xfrm>
            <a:off x="411480" y="4224528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SHAP + Cox PH both agree: Bridge age is the dominant factor — in classification AND time-to-event modeling. This cross-method consistency strengthens confidence in the findings.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 &amp; Impact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32004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60120"/>
            <a:ext cx="4251960" cy="109728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60120"/>
            <a:ext cx="502920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30759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033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Scale &amp; Scope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3258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4.8M bridge-year observations · 8-year consistent panel · 48 NBI raw features · largest temporal bridge ML scope in this course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194560"/>
            <a:ext cx="4251960" cy="109728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194560"/>
            <a:ext cx="502920" cy="10972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54203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22677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Drift Monitoring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56032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Three real-world drift types detected — COVID traffic shock, LRFR policy shift, mechanical aging. All PSI &lt; 0.10 = stable pipeline.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4251960" cy="109728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29000"/>
            <a:ext cx="502920" cy="10972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77647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502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Safety-First Model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79476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AUC = 0.833 · Critical Recall = 95.8% · Crit→Good = 2.71%. Model is conservative toward safety — appropriate for infrastructure.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960120"/>
            <a:ext cx="4251960" cy="109728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960120"/>
            <a:ext cx="502920" cy="10972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30759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1033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Interpretable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94960" y="13258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SHAP + LIME + PDP + Cox PH all confirm: bridge age dominates. No leakage. Physically meaningful predictions engineers can trust.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2194560"/>
            <a:ext cx="4251960" cy="109728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2194560"/>
            <a:ext cx="502920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254203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22677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Future Improvements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94960" y="256032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Real NBI data integration · LightGBM with proper threshold tuning · Online learning for annual model refresh · Extend to tunnels/culverts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0040" y="4672584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DATA 245 — Machine Learning Technologies  |  SJSU  |  Akash Kumar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SafeSpan Bridge Analytics</dc:title>
  <dc:subject>PptxGenJS Presentation</dc:subject>
  <dc:creator>Akash Kumar</dc:creator>
  <cp:lastModifiedBy>Akash Kumar</cp:lastModifiedBy>
  <cp:revision>1</cp:revision>
  <dcterms:created xsi:type="dcterms:W3CDTF">2026-05-05T22:37:52Z</dcterms:created>
  <dcterms:modified xsi:type="dcterms:W3CDTF">2026-05-05T22:37:52Z</dcterms:modified>
</cp:coreProperties>
</file>